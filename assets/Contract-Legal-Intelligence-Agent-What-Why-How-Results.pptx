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33749" autoAdjust="0"/>
  </p:normalViewPr>
  <p:slideViewPr>
    <p:cSldViewPr snapToGrid="0" snapToObjects="1">
      <p:cViewPr varScale="1">
        <p:scale>
          <a:sx n="38" d="100"/>
          <a:sy n="38" d="100"/>
        </p:scale>
        <p:origin x="209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sander Petrenko" userId="340ce965-b3cf-4301-9add-a3ae1632d86f" providerId="ADAL" clId="{5E82EBDA-04C9-4A4E-8983-E88FD880D350}"/>
    <pc:docChg chg="undo custSel modSld">
      <pc:chgData name="Alexsander Petrenko" userId="340ce965-b3cf-4301-9add-a3ae1632d86f" providerId="ADAL" clId="{5E82EBDA-04C9-4A4E-8983-E88FD880D350}" dt="2026-09-08T23:51:31.896" v="95" actId="20577"/>
      <pc:docMkLst>
        <pc:docMk/>
      </pc:docMkLst>
      <pc:sldChg chg="modSp mod modNotesTx">
        <pc:chgData name="Alexsander Petrenko" userId="340ce965-b3cf-4301-9add-a3ae1632d86f" providerId="ADAL" clId="{5E82EBDA-04C9-4A4E-8983-E88FD880D350}" dt="2026-09-08T23:51:31.896" v="95" actId="20577"/>
        <pc:sldMkLst>
          <pc:docMk/>
          <pc:sldMk cId="0" sldId="256"/>
        </pc:sldMkLst>
        <pc:spChg chg="mod">
          <ac:chgData name="Alexsander Petrenko" userId="340ce965-b3cf-4301-9add-a3ae1632d86f" providerId="ADAL" clId="{5E82EBDA-04C9-4A4E-8983-E88FD880D350}" dt="2026-09-08T20:49:14.114" v="78" actId="20577"/>
          <ac:spMkLst>
            <pc:docMk/>
            <pc:sldMk cId="0" sldId="256"/>
            <ac:spMk id="11" creationId="{00000000-0000-0000-0000-000000000000}"/>
          </ac:spMkLst>
        </pc:spChg>
        <pc:spChg chg="mod">
          <ac:chgData name="Alexsander Petrenko" userId="340ce965-b3cf-4301-9add-a3ae1632d86f" providerId="ADAL" clId="{5E82EBDA-04C9-4A4E-8983-E88FD880D350}" dt="2026-09-08T21:08:30.348" v="81" actId="1076"/>
          <ac:spMkLst>
            <pc:docMk/>
            <pc:sldMk cId="0" sldId="256"/>
            <ac:spMk id="12" creationId="{00000000-0000-0000-0000-000000000000}"/>
          </ac:spMkLst>
        </pc:spChg>
        <pc:spChg chg="mod">
          <ac:chgData name="Alexsander Petrenko" userId="340ce965-b3cf-4301-9add-a3ae1632d86f" providerId="ADAL" clId="{5E82EBDA-04C9-4A4E-8983-E88FD880D350}" dt="2026-09-08T20:44:47.778" v="20" actId="20577"/>
          <ac:spMkLst>
            <pc:docMk/>
            <pc:sldMk cId="0" sldId="256"/>
            <ac:spMk id="13" creationId="{00000000-0000-0000-0000-000000000000}"/>
          </ac:spMkLst>
        </pc:spChg>
        <pc:spChg chg="mod">
          <ac:chgData name="Alexsander Petrenko" userId="340ce965-b3cf-4301-9add-a3ae1632d86f" providerId="ADAL" clId="{5E82EBDA-04C9-4A4E-8983-E88FD880D350}" dt="2026-09-08T20:45:20.545" v="53" actId="20577"/>
          <ac:spMkLst>
            <pc:docMk/>
            <pc:sldMk cId="0" sldId="256"/>
            <ac:spMk id="14" creationId="{00000000-0000-0000-0000-000000000000}"/>
          </ac:spMkLst>
        </pc:spChg>
        <pc:spChg chg="mod">
          <ac:chgData name="Alexsander Petrenko" userId="340ce965-b3cf-4301-9add-a3ae1632d86f" providerId="ADAL" clId="{5E82EBDA-04C9-4A4E-8983-E88FD880D350}" dt="2026-09-08T20:45:28.568" v="67" actId="20577"/>
          <ac:spMkLst>
            <pc:docMk/>
            <pc:sldMk cId="0" sldId="256"/>
            <ac:spMk id="15" creationId="{00000000-0000-0000-0000-000000000000}"/>
          </ac:spMkLst>
        </pc:spChg>
        <pc:spChg chg="mod">
          <ac:chgData name="Alexsander Petrenko" userId="340ce965-b3cf-4301-9add-a3ae1632d86f" providerId="ADAL" clId="{5E82EBDA-04C9-4A4E-8983-E88FD880D350}" dt="2026-09-08T21:09:31.138" v="87" actId="1076"/>
          <ac:spMkLst>
            <pc:docMk/>
            <pc:sldMk cId="0" sldId="256"/>
            <ac:spMk id="19" creationId="{00000000-0000-0000-0000-000000000000}"/>
          </ac:spMkLst>
        </pc:spChg>
        <pc:spChg chg="mod">
          <ac:chgData name="Alexsander Petrenko" userId="340ce965-b3cf-4301-9add-a3ae1632d86f" providerId="ADAL" clId="{5E82EBDA-04C9-4A4E-8983-E88FD880D350}" dt="2026-09-08T21:08:47.686" v="84" actId="1076"/>
          <ac:spMkLst>
            <pc:docMk/>
            <pc:sldMk cId="0" sldId="256"/>
            <ac:spMk id="23" creationId="{00000000-0000-0000-0000-000000000000}"/>
          </ac:spMkLst>
        </pc:spChg>
        <pc:spChg chg="mod">
          <ac:chgData name="Alexsander Petrenko" userId="340ce965-b3cf-4301-9add-a3ae1632d86f" providerId="ADAL" clId="{5E82EBDA-04C9-4A4E-8983-E88FD880D350}" dt="2026-09-08T21:19:05.330" v="88" actId="1076"/>
          <ac:spMkLst>
            <pc:docMk/>
            <pc:sldMk cId="0" sldId="256"/>
            <ac:spMk id="35" creationId="{00000000-0000-0000-0000-000000000000}"/>
          </ac:spMkLst>
        </pc:spChg>
        <pc:spChg chg="mod">
          <ac:chgData name="Alexsander Petrenko" userId="340ce965-b3cf-4301-9add-a3ae1632d86f" providerId="ADAL" clId="{5E82EBDA-04C9-4A4E-8983-E88FD880D350}" dt="2026-09-08T21:19:11.603" v="90" actId="1076"/>
          <ac:spMkLst>
            <pc:docMk/>
            <pc:sldMk cId="0" sldId="256"/>
            <ac:spMk id="59" creationId="{00000000-0000-0000-0000-000000000000}"/>
          </ac:spMkLst>
        </pc:spChg>
        <pc:spChg chg="mod">
          <ac:chgData name="Alexsander Petrenko" userId="340ce965-b3cf-4301-9add-a3ae1632d86f" providerId="ADAL" clId="{5E82EBDA-04C9-4A4E-8983-E88FD880D350}" dt="2026-09-08T21:19:15.491" v="91" actId="1076"/>
          <ac:spMkLst>
            <pc:docMk/>
            <pc:sldMk cId="0" sldId="256"/>
            <ac:spMk id="6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4398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BEFORE YOU START: This is a reference pattern, not a finished product. The goal is to teach a reusable contract-and-compliance-review architecture; renewable energy is just the worked example.
WHAT - What we build
Talking points:
- We're not showing slides of an architecture, we're showing a working Copilot Studio agent backed by a real Azure Function.
- Three concrete build pieces: (1) the Copilot Studio agent + custom connector, (2) the Function API grounded in AI Search and Azure OpenAI, (3) the corpus itself - real documents with tables, graphs, and visuals, not clean sample text.
Example to give: "Ask it what the interconnection procedure requires before energizing a system, and it answers from the real IREC Model Interconnection Procedures document in our corpus - not a canned response."
WHY - Why this approach
Talking points:
- Lead with the failure mode: direct SharePoint grounding works until someone asks about a scanned permit or a fee table.
- Reviewers don't trust a summary - they want the exact paragraph and page, which is why citations matter more than fluent prose.
- Land the architecture logic: splitting the workload isn't over-engineering - each Azure service does one job well, and that's also what makes the pattern reusable.
Example to give: "Point Copilot Studio straight at the California Solar Permitting Guidebook PDF and it can summarize prose, but it can't reliably read the fee table or the permit checklist. That's the exact gap Document Intelligence and Vision close."
HOW - How it's built
Talking points:
- Walk the five steps in order and tie each one to a real Azure resource on screen.
- Emphasize the seam: nothing calls Azure OpenAI directly - every question goes through evidence retrieval first, which is what keeps answers grounded instead of hallucinated.
Example to give: "Ask to summarize the permitting checklist and trace it live: SharePoint holds the checklist doc, Document Intelligence OCRs it, AI Search indexes the chunks, the Function sends the top matches to Azure OpenAI, and Copilot Studio returns an answer with a citation back to that checklist document."
WHY IT'S CALLED MULTIMODAL (have this ready for Q&amp;A)
Talking points:
- Two distinct input types get processed, not just one: text (Document Intelligence extracts prose and layout) and visual (Vision analyzes and captions images, diagrams, scanned pages).
- Both modalities get indexed side by side in AI Search - one index for text chunks, one for visual records - so a single question can pull evidence from either or both.
- Azure OpenAI reasons over a combined evidence bundle of text snippets and image captions/OCR together, and cites whichever modality actually contains the answer.
- This is the direct fix for the SharePoint-only gap from the WHY card: SharePoint alone only searches text, so a scanned fee table or interconnection diagram is invisible to it. Treating visual evidence as first-class is what makes this multimodal rather than standard text-only RAG.
Example to give: "Ask which diagram shows the interconnection approval workflow - that answer only exists as an image, never as text, so a text-only agent would return nothing. This pipeline finds it because Vision captioned it and Search indexed it as a visual record."
NEXT STEPS - Take it further
Talking points:
- Reset expectations before Q&amp;A: this is explicitly a template, not a finished product for renewable energy.
- Walk the three actions as literal next steps a customer would take, not abstract capabilities.
Example to give: "For a healthcare customer, you'd fork the repo, swap the renewable-energy corpus for their clinical policy library, and point the same connector and Function code at their SharePoint sites. The architecture doesn't change - only the content and connector target do."
RESOURCES - what each one does (the six boxes at the bottom of the slide)
- SharePoint: system of record for the corpus - stores the source documents and the extracted image assets.
- Document Intelligence: OCRs scanned and text PDFs and pulls out structured layout - this is what reads tables and forms, not just prose.
- Azure AI Vision: analyzes and captions extracted images and diagrams so visual evidence (photos, drawings, charts) becomes searchable text.
- Azure AI Search: indexes both the text chunks and the visual records, and is the layer that actually retrieves the evidence for a given question.
- Azure OpenAI: reasons over the retrieved evidence and generates the answer, with citations back to the source - it never answers from general knowledge alone.
- Copilot Studio: the governed front door - hosts the agent, the custom connector action, and the conversational experience the end user actually talks to.
Example to give: "If a fee table only exists as a scanned image in a PDF, Document Intelligence and Vision are what make it readable at all; Search is what finds it later; Azure OpenAI is what explains it in the answer; Copilot Studio is the only piece the end user ever sees."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13232" y="438912"/>
            <a:ext cx="8595360" cy="201168"/>
          </a:xfrm>
          <a:prstGeom prst="rect">
            <a:avLst/>
          </a:prstGeom>
          <a:noFill/>
          <a:ln/>
        </p:spPr>
        <p:txBody>
          <a:bodyPr wrap="square" lIns="0" tIns="0" rIns="0" bIns="0" rtlCol="0" anchor="t">
            <a:normAutofit/>
          </a:bodyPr>
          <a:lstStyle/>
          <a:p>
            <a:pPr marL="0" indent="0" algn="l">
              <a:buNone/>
            </a:pPr>
            <a:r>
              <a:rPr lang="en-US" sz="1050" b="1" dirty="0">
                <a:solidFill>
                  <a:srgbClr val="E3008C"/>
                </a:solidFill>
                <a:latin typeface="Aptos" pitchFamily="34" charset="0"/>
                <a:ea typeface="Aptos" pitchFamily="34" charset="-122"/>
                <a:cs typeface="Aptos" pitchFamily="34" charset="-120"/>
              </a:rPr>
              <a:t>SALES IN ACTION - SE TRACK - 90-MIN LAB</a:t>
            </a:r>
            <a:endParaRPr lang="en-US" sz="1050" dirty="0"/>
          </a:p>
        </p:txBody>
      </p:sp>
      <p:sp>
        <p:nvSpPr>
          <p:cNvPr id="3" name="Text 1"/>
          <p:cNvSpPr/>
          <p:nvPr/>
        </p:nvSpPr>
        <p:spPr>
          <a:xfrm>
            <a:off x="713232" y="749808"/>
            <a:ext cx="9875520" cy="457200"/>
          </a:xfrm>
          <a:prstGeom prst="rect">
            <a:avLst/>
          </a:prstGeom>
          <a:noFill/>
          <a:ln/>
        </p:spPr>
        <p:txBody>
          <a:bodyPr wrap="square" lIns="0" tIns="0" rIns="0" bIns="0" rtlCol="0" anchor="t">
            <a:normAutofit/>
          </a:bodyPr>
          <a:lstStyle/>
          <a:p>
            <a:pPr marL="0" indent="0" algn="l">
              <a:buNone/>
            </a:pPr>
            <a:r>
              <a:rPr lang="en-US" sz="3000" b="1" dirty="0">
                <a:solidFill>
                  <a:srgbClr val="1F1F1F"/>
                </a:solidFill>
                <a:latin typeface="Aptos Display" pitchFamily="34" charset="0"/>
                <a:ea typeface="Aptos Display" pitchFamily="34" charset="-122"/>
                <a:cs typeface="Aptos Display" pitchFamily="34" charset="-120"/>
              </a:rPr>
              <a:t>Contract &amp; Legal Intelligence Agent</a:t>
            </a:r>
            <a:endParaRPr lang="en-US" sz="3000" dirty="0"/>
          </a:p>
        </p:txBody>
      </p:sp>
      <p:sp>
        <p:nvSpPr>
          <p:cNvPr id="4" name="Text 2"/>
          <p:cNvSpPr/>
          <p:nvPr/>
        </p:nvSpPr>
        <p:spPr>
          <a:xfrm>
            <a:off x="713232" y="1170432"/>
            <a:ext cx="9875520" cy="228600"/>
          </a:xfrm>
          <a:prstGeom prst="rect">
            <a:avLst/>
          </a:prstGeom>
          <a:noFill/>
          <a:ln/>
        </p:spPr>
        <p:txBody>
          <a:bodyPr wrap="square" lIns="0" tIns="0" rIns="0" bIns="0" rtlCol="0" anchor="t">
            <a:normAutofit/>
          </a:bodyPr>
          <a:lstStyle/>
          <a:p>
            <a:pPr marL="0" indent="0" algn="l">
              <a:buNone/>
            </a:pPr>
            <a:r>
              <a:rPr lang="en-US" sz="1700" b="1" dirty="0">
                <a:solidFill>
                  <a:srgbClr val="1F1F1F"/>
                </a:solidFill>
                <a:latin typeface="Aptos Display" pitchFamily="34" charset="0"/>
                <a:ea typeface="Aptos Display" pitchFamily="34" charset="-122"/>
                <a:cs typeface="Aptos Display" pitchFamily="34" charset="-120"/>
              </a:rPr>
              <a:t>(Renewable Energy Example)</a:t>
            </a:r>
            <a:endParaRPr lang="en-US" sz="1700" dirty="0"/>
          </a:p>
        </p:txBody>
      </p:sp>
      <p:sp>
        <p:nvSpPr>
          <p:cNvPr id="5" name="Text 3"/>
          <p:cNvSpPr/>
          <p:nvPr/>
        </p:nvSpPr>
        <p:spPr>
          <a:xfrm>
            <a:off x="713232" y="1444752"/>
            <a:ext cx="10881360" cy="310896"/>
          </a:xfrm>
          <a:prstGeom prst="rect">
            <a:avLst/>
          </a:prstGeom>
          <a:noFill/>
          <a:ln/>
        </p:spPr>
        <p:txBody>
          <a:bodyPr wrap="square" lIns="0" tIns="0" rIns="0" bIns="0" rtlCol="0" anchor="t">
            <a:normAutofit/>
          </a:bodyPr>
          <a:lstStyle/>
          <a:p>
            <a:pPr marL="0" indent="0" algn="l">
              <a:buNone/>
            </a:pPr>
            <a:r>
              <a:rPr lang="en-US" sz="1270" dirty="0">
                <a:solidFill>
                  <a:srgbClr val="666666"/>
                </a:solidFill>
                <a:latin typeface="Aptos" pitchFamily="34" charset="0"/>
                <a:ea typeface="Aptos" pitchFamily="34" charset="-122"/>
                <a:cs typeface="Aptos" pitchFamily="34" charset="-120"/>
              </a:rPr>
              <a:t>Building a Copilot Studio agent that finds and cites contract and compliance evidence from documents and visuals.</a:t>
            </a:r>
            <a:endParaRPr lang="en-US" sz="1270" dirty="0"/>
          </a:p>
        </p:txBody>
      </p:sp>
      <p:sp>
        <p:nvSpPr>
          <p:cNvPr id="6" name="Shape 4"/>
          <p:cNvSpPr/>
          <p:nvPr/>
        </p:nvSpPr>
        <p:spPr>
          <a:xfrm>
            <a:off x="713232" y="1737360"/>
            <a:ext cx="10789920" cy="0"/>
          </a:xfrm>
          <a:prstGeom prst="line">
            <a:avLst/>
          </a:prstGeom>
          <a:noFill/>
          <a:ln w="12700">
            <a:solidFill>
              <a:srgbClr val="E6E6E6"/>
            </a:solidFill>
            <a:prstDash val="solid"/>
          </a:ln>
        </p:spPr>
        <p:txBody>
          <a:bodyPr/>
          <a:lstStyle/>
          <a:p>
            <a:endParaRPr lang="en-US"/>
          </a:p>
        </p:txBody>
      </p:sp>
      <p:sp>
        <p:nvSpPr>
          <p:cNvPr id="7" name="Shape 5"/>
          <p:cNvSpPr/>
          <p:nvPr/>
        </p:nvSpPr>
        <p:spPr>
          <a:xfrm>
            <a:off x="0" y="1865376"/>
            <a:ext cx="12191695" cy="0"/>
          </a:xfrm>
          <a:prstGeom prst="line">
            <a:avLst/>
          </a:prstGeom>
          <a:noFill/>
          <a:ln w="10160">
            <a:solidFill>
              <a:srgbClr val="1F1F1F"/>
            </a:solidFill>
            <a:prstDash val="solid"/>
          </a:ln>
        </p:spPr>
        <p:txBody>
          <a:bodyPr/>
          <a:lstStyle/>
          <a:p>
            <a:endParaRPr lang="en-US"/>
          </a:p>
        </p:txBody>
      </p:sp>
      <p:sp>
        <p:nvSpPr>
          <p:cNvPr id="8" name="Shape 6"/>
          <p:cNvSpPr/>
          <p:nvPr/>
        </p:nvSpPr>
        <p:spPr>
          <a:xfrm>
            <a:off x="713232" y="2029968"/>
            <a:ext cx="2542032" cy="4114800"/>
          </a:xfrm>
          <a:prstGeom prst="rect">
            <a:avLst/>
          </a:prstGeom>
          <a:solidFill>
            <a:srgbClr val="FFFFFF"/>
          </a:solidFill>
          <a:ln w="12700">
            <a:solidFill>
              <a:srgbClr val="E6E6E6"/>
            </a:solidFill>
            <a:prstDash val="solid"/>
          </a:ln>
          <a:effectLst>
            <a:outerShdw blurRad="12700" dist="50800" dir="2700000" algn="bl" rotWithShape="0">
              <a:srgbClr val="D9D9D9">
                <a:alpha val="12000"/>
              </a:srgbClr>
            </a:outerShdw>
          </a:effectLst>
        </p:spPr>
        <p:txBody>
          <a:bodyPr/>
          <a:lstStyle/>
          <a:p>
            <a:endParaRPr lang="en-US"/>
          </a:p>
        </p:txBody>
      </p:sp>
      <p:sp>
        <p:nvSpPr>
          <p:cNvPr id="9" name="Shape 7"/>
          <p:cNvSpPr/>
          <p:nvPr/>
        </p:nvSpPr>
        <p:spPr>
          <a:xfrm>
            <a:off x="804672" y="2011680"/>
            <a:ext cx="2359152" cy="50292"/>
          </a:xfrm>
          <a:prstGeom prst="rect">
            <a:avLst/>
          </a:prstGeom>
          <a:solidFill>
            <a:srgbClr val="E3008C"/>
          </a:solidFill>
          <a:ln w="7620">
            <a:solidFill>
              <a:srgbClr val="1F1F1F"/>
            </a:solidFill>
            <a:prstDash val="solid"/>
          </a:ln>
        </p:spPr>
        <p:txBody>
          <a:bodyPr/>
          <a:lstStyle/>
          <a:p>
            <a:endParaRPr lang="en-US"/>
          </a:p>
        </p:txBody>
      </p:sp>
      <p:sp>
        <p:nvSpPr>
          <p:cNvPr id="10" name="Text 8"/>
          <p:cNvSpPr/>
          <p:nvPr/>
        </p:nvSpPr>
        <p:spPr>
          <a:xfrm>
            <a:off x="896112" y="2258568"/>
            <a:ext cx="2176272" cy="164592"/>
          </a:xfrm>
          <a:prstGeom prst="rect">
            <a:avLst/>
          </a:prstGeom>
          <a:noFill/>
          <a:ln/>
        </p:spPr>
        <p:txBody>
          <a:bodyPr wrap="square" lIns="0" tIns="0" rIns="0" bIns="0" rtlCol="0" anchor="t">
            <a:normAutofit/>
          </a:bodyPr>
          <a:lstStyle/>
          <a:p>
            <a:pPr marL="0" indent="0" algn="l">
              <a:buNone/>
            </a:pPr>
            <a:r>
              <a:rPr lang="en-US" sz="960" b="1" dirty="0">
                <a:solidFill>
                  <a:srgbClr val="E3008C"/>
                </a:solidFill>
                <a:latin typeface="Aptos" pitchFamily="34" charset="0"/>
                <a:ea typeface="Aptos" pitchFamily="34" charset="-122"/>
                <a:cs typeface="Aptos" pitchFamily="34" charset="-120"/>
              </a:rPr>
              <a:t>WHAT</a:t>
            </a:r>
            <a:endParaRPr lang="en-US" sz="960" dirty="0"/>
          </a:p>
        </p:txBody>
      </p:sp>
      <p:sp>
        <p:nvSpPr>
          <p:cNvPr id="11" name="Text 9"/>
          <p:cNvSpPr/>
          <p:nvPr/>
        </p:nvSpPr>
        <p:spPr>
          <a:xfrm>
            <a:off x="896112" y="2560320"/>
            <a:ext cx="2176272" cy="411480"/>
          </a:xfrm>
          <a:prstGeom prst="rect">
            <a:avLst/>
          </a:prstGeom>
          <a:noFill/>
          <a:ln/>
        </p:spPr>
        <p:txBody>
          <a:bodyPr wrap="square" lIns="0" tIns="0" rIns="0" bIns="0" rtlCol="0" anchor="t">
            <a:normAutofit/>
          </a:bodyPr>
          <a:lstStyle/>
          <a:p>
            <a:pPr marL="0" indent="0" algn="l">
              <a:buNone/>
            </a:pPr>
            <a:r>
              <a:rPr lang="en-US" sz="1520" b="1" dirty="0">
                <a:solidFill>
                  <a:srgbClr val="1F1F1F"/>
                </a:solidFill>
                <a:latin typeface="Aptos Display" pitchFamily="34" charset="0"/>
                <a:ea typeface="Aptos Display" pitchFamily="34" charset="-122"/>
                <a:cs typeface="Aptos Display" pitchFamily="34" charset="-120"/>
              </a:rPr>
              <a:t>What we will </a:t>
            </a:r>
            <a:r>
              <a:rPr lang="en-US" sz="1520" b="1">
                <a:solidFill>
                  <a:srgbClr val="1F1F1F"/>
                </a:solidFill>
                <a:latin typeface="Aptos Display" pitchFamily="34" charset="0"/>
                <a:ea typeface="Aptos Display" pitchFamily="34" charset="-122"/>
                <a:cs typeface="Aptos Display" pitchFamily="34" charset="-120"/>
              </a:rPr>
              <a:t>be building</a:t>
            </a:r>
            <a:endParaRPr lang="en-US" sz="1520" dirty="0"/>
          </a:p>
        </p:txBody>
      </p:sp>
      <p:sp>
        <p:nvSpPr>
          <p:cNvPr id="12" name="Text 10"/>
          <p:cNvSpPr/>
          <p:nvPr/>
        </p:nvSpPr>
        <p:spPr>
          <a:xfrm>
            <a:off x="896112" y="2964422"/>
            <a:ext cx="2176272" cy="914400"/>
          </a:xfrm>
          <a:prstGeom prst="rect">
            <a:avLst/>
          </a:prstGeom>
          <a:noFill/>
          <a:ln/>
        </p:spPr>
        <p:txBody>
          <a:bodyPr wrap="square" lIns="0" tIns="0" rIns="0" bIns="0" rtlCol="0" anchor="t">
            <a:normAutofit/>
          </a:bodyPr>
          <a:lstStyle/>
          <a:p>
            <a:pPr marL="0" indent="0" algn="l">
              <a:buNone/>
            </a:pPr>
            <a:r>
              <a:rPr lang="en-US" sz="955" dirty="0">
                <a:solidFill>
                  <a:srgbClr val="666666"/>
                </a:solidFill>
                <a:latin typeface="Aptos" pitchFamily="34" charset="0"/>
                <a:ea typeface="Aptos" pitchFamily="34" charset="-122"/>
                <a:cs typeface="Aptos" pitchFamily="34" charset="-120"/>
              </a:rPr>
              <a:t>A Contract &amp; Legal Intelligence Agent using renewable energy as the example domain.</a:t>
            </a:r>
            <a:endParaRPr lang="en-US" sz="955" dirty="0"/>
          </a:p>
        </p:txBody>
      </p:sp>
      <p:sp>
        <p:nvSpPr>
          <p:cNvPr id="13" name="Text 11"/>
          <p:cNvSpPr/>
          <p:nvPr/>
        </p:nvSpPr>
        <p:spPr>
          <a:xfrm>
            <a:off x="1024128" y="3675888"/>
            <a:ext cx="2011680" cy="533400"/>
          </a:xfrm>
          <a:prstGeom prst="rect">
            <a:avLst/>
          </a:prstGeom>
          <a:noFill/>
          <a:ln/>
        </p:spPr>
        <p:txBody>
          <a:bodyPr wrap="square" lIns="0" tIns="0" rIns="0" bIns="0" rtlCol="0" anchor="t">
            <a:normAutofit/>
          </a:bodyPr>
          <a:lstStyle/>
          <a:p>
            <a:pPr marL="342900" indent="-342900" algn="l">
              <a:buSzPct val="100000"/>
              <a:buChar char="•"/>
            </a:pPr>
            <a:r>
              <a:rPr lang="en-US" sz="915" b="1" dirty="0">
                <a:solidFill>
                  <a:srgbClr val="1F1F1F"/>
                </a:solidFill>
                <a:latin typeface="Aptos" pitchFamily="34" charset="0"/>
                <a:ea typeface="Aptos" pitchFamily="34" charset="-122"/>
                <a:cs typeface="Aptos" pitchFamily="34" charset="-120"/>
              </a:rPr>
              <a:t>We're deploying a Copilot Studio agent with a custom connector</a:t>
            </a:r>
            <a:endParaRPr lang="en-US" sz="915" dirty="0"/>
          </a:p>
        </p:txBody>
      </p:sp>
      <p:sp>
        <p:nvSpPr>
          <p:cNvPr id="14" name="Text 12"/>
          <p:cNvSpPr/>
          <p:nvPr/>
        </p:nvSpPr>
        <p:spPr>
          <a:xfrm>
            <a:off x="1024128" y="4209288"/>
            <a:ext cx="2011680" cy="533400"/>
          </a:xfrm>
          <a:prstGeom prst="rect">
            <a:avLst/>
          </a:prstGeom>
          <a:noFill/>
          <a:ln/>
        </p:spPr>
        <p:txBody>
          <a:bodyPr wrap="square" lIns="0" tIns="0" rIns="0" bIns="0" rtlCol="0" anchor="t">
            <a:normAutofit/>
          </a:bodyPr>
          <a:lstStyle/>
          <a:p>
            <a:pPr marL="342900" indent="-342900" algn="l">
              <a:buSzPct val="100000"/>
              <a:buChar char="•"/>
            </a:pPr>
            <a:r>
              <a:rPr lang="en-US" sz="915" b="1" dirty="0">
                <a:solidFill>
                  <a:srgbClr val="1F1F1F"/>
                </a:solidFill>
                <a:latin typeface="Aptos" pitchFamily="34" charset="0"/>
                <a:ea typeface="Aptos" pitchFamily="34" charset="-122"/>
                <a:cs typeface="Aptos" pitchFamily="34" charset="-120"/>
              </a:rPr>
              <a:t>We're grounding a Function API in AI Search and Azure OpenAI</a:t>
            </a:r>
            <a:endParaRPr lang="en-US" sz="915" dirty="0"/>
          </a:p>
        </p:txBody>
      </p:sp>
      <p:sp>
        <p:nvSpPr>
          <p:cNvPr id="15" name="Text 13"/>
          <p:cNvSpPr/>
          <p:nvPr/>
        </p:nvSpPr>
        <p:spPr>
          <a:xfrm>
            <a:off x="1024128" y="4742688"/>
            <a:ext cx="2011680" cy="533400"/>
          </a:xfrm>
          <a:prstGeom prst="rect">
            <a:avLst/>
          </a:prstGeom>
          <a:noFill/>
          <a:ln/>
        </p:spPr>
        <p:txBody>
          <a:bodyPr wrap="square" lIns="0" tIns="0" rIns="0" bIns="0" rtlCol="0" anchor="t">
            <a:normAutofit/>
          </a:bodyPr>
          <a:lstStyle/>
          <a:p>
            <a:pPr marL="342900" indent="-342900" algn="l">
              <a:buSzPct val="100000"/>
              <a:buChar char="•"/>
            </a:pPr>
            <a:r>
              <a:rPr lang="en-US" sz="915" b="1" dirty="0">
                <a:solidFill>
                  <a:srgbClr val="1F1F1F"/>
                </a:solidFill>
                <a:latin typeface="Aptos" pitchFamily="34" charset="0"/>
                <a:ea typeface="Aptos" pitchFamily="34" charset="-122"/>
                <a:cs typeface="Aptos" pitchFamily="34" charset="-120"/>
              </a:rPr>
              <a:t>We're using a rich corpus with tables, graphs, and visuals</a:t>
            </a:r>
            <a:endParaRPr lang="en-US" sz="915" dirty="0"/>
          </a:p>
        </p:txBody>
      </p:sp>
      <p:sp>
        <p:nvSpPr>
          <p:cNvPr id="16" name="Shape 14"/>
          <p:cNvSpPr/>
          <p:nvPr/>
        </p:nvSpPr>
        <p:spPr>
          <a:xfrm>
            <a:off x="896112" y="5303520"/>
            <a:ext cx="2176272" cy="0"/>
          </a:xfrm>
          <a:prstGeom prst="line">
            <a:avLst/>
          </a:prstGeom>
          <a:noFill/>
          <a:ln w="12700">
            <a:solidFill>
              <a:srgbClr val="E6E6E6"/>
            </a:solidFill>
            <a:prstDash val="solid"/>
          </a:ln>
        </p:spPr>
        <p:txBody>
          <a:bodyPr/>
          <a:lstStyle/>
          <a:p>
            <a:endParaRPr lang="en-US"/>
          </a:p>
        </p:txBody>
      </p:sp>
      <p:sp>
        <p:nvSpPr>
          <p:cNvPr id="17" name="Shape 15"/>
          <p:cNvSpPr/>
          <p:nvPr/>
        </p:nvSpPr>
        <p:spPr>
          <a:xfrm>
            <a:off x="896112" y="5586984"/>
            <a:ext cx="54864" cy="256032"/>
          </a:xfrm>
          <a:prstGeom prst="rect">
            <a:avLst/>
          </a:prstGeom>
          <a:solidFill>
            <a:srgbClr val="0078D4"/>
          </a:solidFill>
          <a:ln w="12700">
            <a:solidFill>
              <a:srgbClr val="0078D4"/>
            </a:solidFill>
            <a:prstDash val="solid"/>
          </a:ln>
        </p:spPr>
        <p:txBody>
          <a:bodyPr/>
          <a:lstStyle/>
          <a:p>
            <a:endParaRPr lang="en-US"/>
          </a:p>
        </p:txBody>
      </p:sp>
      <p:sp>
        <p:nvSpPr>
          <p:cNvPr id="18" name="Text 16"/>
          <p:cNvSpPr/>
          <p:nvPr/>
        </p:nvSpPr>
        <p:spPr>
          <a:xfrm>
            <a:off x="1024128" y="5577840"/>
            <a:ext cx="2048256" cy="274320"/>
          </a:xfrm>
          <a:prstGeom prst="rect">
            <a:avLst/>
          </a:prstGeom>
          <a:noFill/>
          <a:ln/>
        </p:spPr>
        <p:txBody>
          <a:bodyPr wrap="square" lIns="0" tIns="0" rIns="0" bIns="0" rtlCol="0" anchor="t">
            <a:normAutofit/>
          </a:bodyPr>
          <a:lstStyle/>
          <a:p>
            <a:pPr marL="0" indent="0" algn="l">
              <a:buNone/>
            </a:pPr>
            <a:r>
              <a:rPr lang="en-US" sz="860" b="1" dirty="0">
                <a:solidFill>
                  <a:srgbClr val="E3008C"/>
                </a:solidFill>
                <a:latin typeface="Aptos" pitchFamily="34" charset="0"/>
                <a:ea typeface="Aptos" pitchFamily="34" charset="-122"/>
                <a:cs typeface="Aptos" pitchFamily="34" charset="-120"/>
              </a:rPr>
              <a:t>Deliverable: working lab pattern</a:t>
            </a:r>
            <a:endParaRPr lang="en-US" sz="860" dirty="0"/>
          </a:p>
        </p:txBody>
      </p:sp>
      <p:sp>
        <p:nvSpPr>
          <p:cNvPr id="19" name="Shape 17"/>
          <p:cNvSpPr/>
          <p:nvPr/>
        </p:nvSpPr>
        <p:spPr>
          <a:xfrm>
            <a:off x="3547872" y="2011680"/>
            <a:ext cx="2542032" cy="4114800"/>
          </a:xfrm>
          <a:prstGeom prst="rect">
            <a:avLst/>
          </a:prstGeom>
          <a:solidFill>
            <a:srgbClr val="FFFFFF"/>
          </a:solidFill>
          <a:ln w="12700">
            <a:solidFill>
              <a:srgbClr val="E6E6E6"/>
            </a:solidFill>
            <a:prstDash val="solid"/>
          </a:ln>
          <a:effectLst>
            <a:outerShdw blurRad="12700" dist="50800" dir="2700000" algn="bl" rotWithShape="0">
              <a:srgbClr val="D9D9D9">
                <a:alpha val="12000"/>
              </a:srgbClr>
            </a:outerShdw>
          </a:effectLst>
        </p:spPr>
        <p:txBody>
          <a:bodyPr/>
          <a:lstStyle/>
          <a:p>
            <a:endParaRPr lang="en-US"/>
          </a:p>
        </p:txBody>
      </p:sp>
      <p:sp>
        <p:nvSpPr>
          <p:cNvPr id="20" name="Shape 18"/>
          <p:cNvSpPr/>
          <p:nvPr/>
        </p:nvSpPr>
        <p:spPr>
          <a:xfrm>
            <a:off x="3639312" y="2011680"/>
            <a:ext cx="2359152" cy="50292"/>
          </a:xfrm>
          <a:prstGeom prst="rect">
            <a:avLst/>
          </a:prstGeom>
          <a:solidFill>
            <a:srgbClr val="E3008C"/>
          </a:solidFill>
          <a:ln w="7620">
            <a:solidFill>
              <a:srgbClr val="1F1F1F"/>
            </a:solidFill>
            <a:prstDash val="solid"/>
          </a:ln>
        </p:spPr>
        <p:txBody>
          <a:bodyPr/>
          <a:lstStyle/>
          <a:p>
            <a:endParaRPr lang="en-US"/>
          </a:p>
        </p:txBody>
      </p:sp>
      <p:sp>
        <p:nvSpPr>
          <p:cNvPr id="21" name="Text 19"/>
          <p:cNvSpPr/>
          <p:nvPr/>
        </p:nvSpPr>
        <p:spPr>
          <a:xfrm>
            <a:off x="3730752" y="2258568"/>
            <a:ext cx="2176272" cy="164592"/>
          </a:xfrm>
          <a:prstGeom prst="rect">
            <a:avLst/>
          </a:prstGeom>
          <a:noFill/>
          <a:ln/>
        </p:spPr>
        <p:txBody>
          <a:bodyPr wrap="square" lIns="0" tIns="0" rIns="0" bIns="0" rtlCol="0" anchor="t">
            <a:normAutofit/>
          </a:bodyPr>
          <a:lstStyle/>
          <a:p>
            <a:pPr marL="0" indent="0" algn="l">
              <a:buNone/>
            </a:pPr>
            <a:r>
              <a:rPr lang="en-US" sz="960" b="1" dirty="0">
                <a:solidFill>
                  <a:srgbClr val="E3008C"/>
                </a:solidFill>
                <a:latin typeface="Aptos" pitchFamily="34" charset="0"/>
                <a:ea typeface="Aptos" pitchFamily="34" charset="-122"/>
                <a:cs typeface="Aptos" pitchFamily="34" charset="-120"/>
              </a:rPr>
              <a:t>WHY</a:t>
            </a:r>
            <a:endParaRPr lang="en-US" sz="960" dirty="0"/>
          </a:p>
        </p:txBody>
      </p:sp>
      <p:sp>
        <p:nvSpPr>
          <p:cNvPr id="22" name="Text 20"/>
          <p:cNvSpPr/>
          <p:nvPr/>
        </p:nvSpPr>
        <p:spPr>
          <a:xfrm>
            <a:off x="3730752" y="2560320"/>
            <a:ext cx="2176272" cy="411480"/>
          </a:xfrm>
          <a:prstGeom prst="rect">
            <a:avLst/>
          </a:prstGeom>
          <a:noFill/>
          <a:ln/>
        </p:spPr>
        <p:txBody>
          <a:bodyPr wrap="square" lIns="0" tIns="0" rIns="0" bIns="0" rtlCol="0" anchor="t">
            <a:normAutofit/>
          </a:bodyPr>
          <a:lstStyle/>
          <a:p>
            <a:pPr marL="0" indent="0" algn="l">
              <a:buNone/>
            </a:pPr>
            <a:r>
              <a:rPr lang="en-US" sz="1520" b="1" dirty="0">
                <a:solidFill>
                  <a:srgbClr val="1F1F1F"/>
                </a:solidFill>
                <a:latin typeface="Aptos Display" pitchFamily="34" charset="0"/>
                <a:ea typeface="Aptos Display" pitchFamily="34" charset="-122"/>
                <a:cs typeface="Aptos Display" pitchFamily="34" charset="-120"/>
              </a:rPr>
              <a:t>Why this approach</a:t>
            </a:r>
            <a:endParaRPr lang="en-US" sz="1520" dirty="0"/>
          </a:p>
        </p:txBody>
      </p:sp>
      <p:sp>
        <p:nvSpPr>
          <p:cNvPr id="23" name="Text 21"/>
          <p:cNvSpPr/>
          <p:nvPr/>
        </p:nvSpPr>
        <p:spPr>
          <a:xfrm>
            <a:off x="3730752" y="2956640"/>
            <a:ext cx="2176272" cy="914400"/>
          </a:xfrm>
          <a:prstGeom prst="rect">
            <a:avLst/>
          </a:prstGeom>
          <a:noFill/>
          <a:ln/>
        </p:spPr>
        <p:txBody>
          <a:bodyPr wrap="square" lIns="0" tIns="0" rIns="0" bIns="0" rtlCol="0" anchor="t">
            <a:normAutofit/>
          </a:bodyPr>
          <a:lstStyle/>
          <a:p>
            <a:pPr marL="0" indent="0" algn="l">
              <a:buNone/>
            </a:pPr>
            <a:r>
              <a:rPr lang="en-US" sz="955" dirty="0">
                <a:solidFill>
                  <a:srgbClr val="666666"/>
                </a:solidFill>
                <a:latin typeface="Aptos" pitchFamily="34" charset="0"/>
                <a:ea typeface="Aptos" pitchFamily="34" charset="-122"/>
                <a:cs typeface="Aptos" pitchFamily="34" charset="-120"/>
              </a:rPr>
              <a:t>Direct SharePoint grounding is fast for clean text, but legal review often depends on evidence buried in scans, diagrams, tables, and long PDFs.</a:t>
            </a:r>
          </a:p>
        </p:txBody>
      </p:sp>
      <p:sp>
        <p:nvSpPr>
          <p:cNvPr id="24" name="Text 22"/>
          <p:cNvSpPr/>
          <p:nvPr/>
        </p:nvSpPr>
        <p:spPr>
          <a:xfrm>
            <a:off x="3858768" y="3675888"/>
            <a:ext cx="2011680" cy="400050"/>
          </a:xfrm>
          <a:prstGeom prst="rect">
            <a:avLst/>
          </a:prstGeom>
          <a:noFill/>
          <a:ln/>
        </p:spPr>
        <p:txBody>
          <a:bodyPr wrap="square" lIns="0" tIns="0" rIns="0" bIns="0" rtlCol="0" anchor="t">
            <a:normAutofit/>
          </a:bodyPr>
          <a:lstStyle/>
          <a:p>
            <a:pPr marL="342900" indent="-342900" algn="l">
              <a:buSzPct val="100000"/>
              <a:buChar char="•"/>
            </a:pPr>
            <a:r>
              <a:rPr lang="en-US" sz="840" b="1" dirty="0">
                <a:solidFill>
                  <a:srgbClr val="1F1F1F"/>
                </a:solidFill>
                <a:latin typeface="Aptos" pitchFamily="34" charset="0"/>
                <a:ea typeface="Aptos" pitchFamily="34" charset="-122"/>
                <a:cs typeface="Aptos" pitchFamily="34" charset="-120"/>
              </a:rPr>
              <a:t>SharePoint alone can't read scans, diagrams, or tables</a:t>
            </a:r>
            <a:endParaRPr lang="en-US" sz="840" dirty="0"/>
          </a:p>
        </p:txBody>
      </p:sp>
      <p:sp>
        <p:nvSpPr>
          <p:cNvPr id="25" name="Text 23"/>
          <p:cNvSpPr/>
          <p:nvPr/>
        </p:nvSpPr>
        <p:spPr>
          <a:xfrm>
            <a:off x="3858768" y="4075938"/>
            <a:ext cx="2011680" cy="400050"/>
          </a:xfrm>
          <a:prstGeom prst="rect">
            <a:avLst/>
          </a:prstGeom>
          <a:noFill/>
          <a:ln/>
        </p:spPr>
        <p:txBody>
          <a:bodyPr wrap="square" lIns="0" tIns="0" rIns="0" bIns="0" rtlCol="0" anchor="t">
            <a:normAutofit/>
          </a:bodyPr>
          <a:lstStyle/>
          <a:p>
            <a:pPr marL="342900" indent="-342900" algn="l">
              <a:buSzPct val="100000"/>
              <a:buChar char="•"/>
            </a:pPr>
            <a:r>
              <a:rPr lang="en-US" sz="840" b="1" dirty="0">
                <a:solidFill>
                  <a:srgbClr val="1F1F1F"/>
                </a:solidFill>
                <a:latin typeface="Aptos" pitchFamily="34" charset="0"/>
                <a:ea typeface="Aptos" pitchFamily="34" charset="-122"/>
                <a:cs typeface="Aptos" pitchFamily="34" charset="-120"/>
              </a:rPr>
              <a:t>Reviewers need citations, not summaries</a:t>
            </a:r>
            <a:endParaRPr lang="en-US" sz="840" dirty="0"/>
          </a:p>
        </p:txBody>
      </p:sp>
      <p:sp>
        <p:nvSpPr>
          <p:cNvPr id="26" name="Text 24"/>
          <p:cNvSpPr/>
          <p:nvPr/>
        </p:nvSpPr>
        <p:spPr>
          <a:xfrm>
            <a:off x="3858768" y="4475988"/>
            <a:ext cx="2011680" cy="400050"/>
          </a:xfrm>
          <a:prstGeom prst="rect">
            <a:avLst/>
          </a:prstGeom>
          <a:noFill/>
          <a:ln/>
        </p:spPr>
        <p:txBody>
          <a:bodyPr wrap="square" lIns="0" tIns="0" rIns="0" bIns="0" rtlCol="0" anchor="t">
            <a:normAutofit/>
          </a:bodyPr>
          <a:lstStyle/>
          <a:p>
            <a:pPr marL="342900" indent="-342900" algn="l">
              <a:buSzPct val="100000"/>
              <a:buChar char="•"/>
            </a:pPr>
            <a:r>
              <a:rPr lang="en-US" sz="840" b="1" dirty="0">
                <a:solidFill>
                  <a:srgbClr val="1F1F1F"/>
                </a:solidFill>
                <a:latin typeface="Aptos" pitchFamily="34" charset="0"/>
                <a:ea typeface="Aptos" pitchFamily="34" charset="-122"/>
                <a:cs typeface="Aptos" pitchFamily="34" charset="-120"/>
              </a:rPr>
              <a:t>Each service in the pipeline does one job well</a:t>
            </a:r>
            <a:endParaRPr lang="en-US" sz="840" dirty="0"/>
          </a:p>
        </p:txBody>
      </p:sp>
      <p:sp>
        <p:nvSpPr>
          <p:cNvPr id="27" name="Text 25"/>
          <p:cNvSpPr/>
          <p:nvPr/>
        </p:nvSpPr>
        <p:spPr>
          <a:xfrm>
            <a:off x="3858768" y="4876038"/>
            <a:ext cx="2011680" cy="400050"/>
          </a:xfrm>
          <a:prstGeom prst="rect">
            <a:avLst/>
          </a:prstGeom>
          <a:noFill/>
          <a:ln/>
        </p:spPr>
        <p:txBody>
          <a:bodyPr wrap="square" lIns="0" tIns="0" rIns="0" bIns="0" rtlCol="0" anchor="t">
            <a:normAutofit/>
          </a:bodyPr>
          <a:lstStyle/>
          <a:p>
            <a:pPr marL="342900" indent="-342900" algn="l">
              <a:buSzPct val="100000"/>
              <a:buChar char="•"/>
            </a:pPr>
            <a:r>
              <a:rPr lang="en-US" sz="840" b="1" dirty="0">
                <a:solidFill>
                  <a:srgbClr val="1F1F1F"/>
                </a:solidFill>
                <a:latin typeface="Aptos" pitchFamily="34" charset="0"/>
                <a:ea typeface="Aptos" pitchFamily="34" charset="-122"/>
                <a:cs typeface="Aptos" pitchFamily="34" charset="-120"/>
              </a:rPr>
              <a:t>Built once, reusable as a template for other domains</a:t>
            </a:r>
            <a:endParaRPr lang="en-US" sz="840" dirty="0"/>
          </a:p>
        </p:txBody>
      </p:sp>
      <p:sp>
        <p:nvSpPr>
          <p:cNvPr id="28" name="Shape 26"/>
          <p:cNvSpPr/>
          <p:nvPr/>
        </p:nvSpPr>
        <p:spPr>
          <a:xfrm>
            <a:off x="3730752" y="5303520"/>
            <a:ext cx="2176272" cy="0"/>
          </a:xfrm>
          <a:prstGeom prst="line">
            <a:avLst/>
          </a:prstGeom>
          <a:noFill/>
          <a:ln w="12700">
            <a:solidFill>
              <a:srgbClr val="E6E6E6"/>
            </a:solidFill>
            <a:prstDash val="solid"/>
          </a:ln>
        </p:spPr>
        <p:txBody>
          <a:bodyPr/>
          <a:lstStyle/>
          <a:p>
            <a:endParaRPr lang="en-US"/>
          </a:p>
        </p:txBody>
      </p:sp>
      <p:sp>
        <p:nvSpPr>
          <p:cNvPr id="29" name="Shape 27"/>
          <p:cNvSpPr/>
          <p:nvPr/>
        </p:nvSpPr>
        <p:spPr>
          <a:xfrm>
            <a:off x="3730752" y="5586984"/>
            <a:ext cx="54864" cy="256032"/>
          </a:xfrm>
          <a:prstGeom prst="rect">
            <a:avLst/>
          </a:prstGeom>
          <a:solidFill>
            <a:srgbClr val="107C10"/>
          </a:solidFill>
          <a:ln w="12700">
            <a:solidFill>
              <a:srgbClr val="107C10"/>
            </a:solidFill>
            <a:prstDash val="solid"/>
          </a:ln>
        </p:spPr>
        <p:txBody>
          <a:bodyPr/>
          <a:lstStyle/>
          <a:p>
            <a:endParaRPr lang="en-US"/>
          </a:p>
        </p:txBody>
      </p:sp>
      <p:sp>
        <p:nvSpPr>
          <p:cNvPr id="30" name="Text 28"/>
          <p:cNvSpPr/>
          <p:nvPr/>
        </p:nvSpPr>
        <p:spPr>
          <a:xfrm>
            <a:off x="3858768" y="5577840"/>
            <a:ext cx="2048256" cy="274320"/>
          </a:xfrm>
          <a:prstGeom prst="rect">
            <a:avLst/>
          </a:prstGeom>
          <a:noFill/>
          <a:ln/>
        </p:spPr>
        <p:txBody>
          <a:bodyPr wrap="square" lIns="0" tIns="0" rIns="0" bIns="0" rtlCol="0" anchor="t">
            <a:normAutofit/>
          </a:bodyPr>
          <a:lstStyle/>
          <a:p>
            <a:pPr marL="0" indent="0" algn="l">
              <a:buNone/>
            </a:pPr>
            <a:r>
              <a:rPr lang="en-US" sz="860" b="1" dirty="0">
                <a:solidFill>
                  <a:srgbClr val="E3008C"/>
                </a:solidFill>
                <a:latin typeface="Aptos" pitchFamily="34" charset="0"/>
                <a:ea typeface="Aptos" pitchFamily="34" charset="-122"/>
                <a:cs typeface="Aptos" pitchFamily="34" charset="-120"/>
              </a:rPr>
              <a:t>Point to land: evidence is the product</a:t>
            </a:r>
            <a:endParaRPr lang="en-US" sz="860" dirty="0"/>
          </a:p>
        </p:txBody>
      </p:sp>
      <p:sp>
        <p:nvSpPr>
          <p:cNvPr id="31" name="Shape 29"/>
          <p:cNvSpPr/>
          <p:nvPr/>
        </p:nvSpPr>
        <p:spPr>
          <a:xfrm>
            <a:off x="6382512" y="2029968"/>
            <a:ext cx="2542032" cy="4114800"/>
          </a:xfrm>
          <a:prstGeom prst="rect">
            <a:avLst/>
          </a:prstGeom>
          <a:solidFill>
            <a:srgbClr val="FFFFFF"/>
          </a:solidFill>
          <a:ln w="12700">
            <a:solidFill>
              <a:srgbClr val="E6E6E6"/>
            </a:solidFill>
            <a:prstDash val="solid"/>
          </a:ln>
          <a:effectLst>
            <a:outerShdw blurRad="12700" dist="50800" dir="2700000" algn="bl" rotWithShape="0">
              <a:srgbClr val="D9D9D9">
                <a:alpha val="12000"/>
              </a:srgbClr>
            </a:outerShdw>
          </a:effectLst>
        </p:spPr>
        <p:txBody>
          <a:bodyPr/>
          <a:lstStyle/>
          <a:p>
            <a:endParaRPr lang="en-US"/>
          </a:p>
        </p:txBody>
      </p:sp>
      <p:sp>
        <p:nvSpPr>
          <p:cNvPr id="32" name="Shape 30"/>
          <p:cNvSpPr/>
          <p:nvPr/>
        </p:nvSpPr>
        <p:spPr>
          <a:xfrm>
            <a:off x="6473952" y="2011680"/>
            <a:ext cx="2359152" cy="50292"/>
          </a:xfrm>
          <a:prstGeom prst="rect">
            <a:avLst/>
          </a:prstGeom>
          <a:solidFill>
            <a:srgbClr val="E3008C"/>
          </a:solidFill>
          <a:ln w="7620">
            <a:solidFill>
              <a:srgbClr val="1F1F1F"/>
            </a:solidFill>
            <a:prstDash val="solid"/>
          </a:ln>
        </p:spPr>
        <p:txBody>
          <a:bodyPr/>
          <a:lstStyle/>
          <a:p>
            <a:endParaRPr lang="en-US"/>
          </a:p>
        </p:txBody>
      </p:sp>
      <p:sp>
        <p:nvSpPr>
          <p:cNvPr id="33" name="Text 31"/>
          <p:cNvSpPr/>
          <p:nvPr/>
        </p:nvSpPr>
        <p:spPr>
          <a:xfrm>
            <a:off x="6565392" y="2258568"/>
            <a:ext cx="2176272" cy="164592"/>
          </a:xfrm>
          <a:prstGeom prst="rect">
            <a:avLst/>
          </a:prstGeom>
          <a:noFill/>
          <a:ln/>
        </p:spPr>
        <p:txBody>
          <a:bodyPr wrap="square" lIns="0" tIns="0" rIns="0" bIns="0" rtlCol="0" anchor="t">
            <a:normAutofit/>
          </a:bodyPr>
          <a:lstStyle/>
          <a:p>
            <a:pPr marL="0" indent="0" algn="l">
              <a:buNone/>
            </a:pPr>
            <a:r>
              <a:rPr lang="en-US" sz="960" b="1" dirty="0">
                <a:solidFill>
                  <a:srgbClr val="E3008C"/>
                </a:solidFill>
                <a:latin typeface="Aptos" pitchFamily="34" charset="0"/>
                <a:ea typeface="Aptos" pitchFamily="34" charset="-122"/>
                <a:cs typeface="Aptos" pitchFamily="34" charset="-120"/>
              </a:rPr>
              <a:t>HOW</a:t>
            </a:r>
            <a:endParaRPr lang="en-US" sz="960" dirty="0"/>
          </a:p>
        </p:txBody>
      </p:sp>
      <p:sp>
        <p:nvSpPr>
          <p:cNvPr id="34" name="Text 32"/>
          <p:cNvSpPr/>
          <p:nvPr/>
        </p:nvSpPr>
        <p:spPr>
          <a:xfrm>
            <a:off x="6565392" y="2560320"/>
            <a:ext cx="2176272" cy="411480"/>
          </a:xfrm>
          <a:prstGeom prst="rect">
            <a:avLst/>
          </a:prstGeom>
          <a:noFill/>
          <a:ln/>
        </p:spPr>
        <p:txBody>
          <a:bodyPr wrap="square" lIns="0" tIns="0" rIns="0" bIns="0" rtlCol="0" anchor="t">
            <a:normAutofit/>
          </a:bodyPr>
          <a:lstStyle/>
          <a:p>
            <a:pPr marL="0" indent="0" algn="l">
              <a:buNone/>
            </a:pPr>
            <a:r>
              <a:rPr lang="en-US" sz="1520" b="1" dirty="0">
                <a:solidFill>
                  <a:srgbClr val="1F1F1F"/>
                </a:solidFill>
                <a:latin typeface="Aptos Display" pitchFamily="34" charset="0"/>
                <a:ea typeface="Aptos Display" pitchFamily="34" charset="-122"/>
                <a:cs typeface="Aptos Display" pitchFamily="34" charset="-120"/>
              </a:rPr>
              <a:t>How it's built</a:t>
            </a:r>
            <a:endParaRPr lang="en-US" sz="1520" dirty="0"/>
          </a:p>
        </p:txBody>
      </p:sp>
      <p:sp>
        <p:nvSpPr>
          <p:cNvPr id="35" name="Text 33"/>
          <p:cNvSpPr/>
          <p:nvPr/>
        </p:nvSpPr>
        <p:spPr>
          <a:xfrm>
            <a:off x="6565392" y="3108960"/>
            <a:ext cx="2176272" cy="914400"/>
          </a:xfrm>
          <a:prstGeom prst="rect">
            <a:avLst/>
          </a:prstGeom>
          <a:noFill/>
          <a:ln/>
        </p:spPr>
        <p:txBody>
          <a:bodyPr wrap="square" lIns="0" tIns="0" rIns="0" bIns="0" rtlCol="0" anchor="t">
            <a:normAutofit/>
          </a:bodyPr>
          <a:lstStyle/>
          <a:p>
            <a:pPr marL="0" indent="0" algn="l">
              <a:buNone/>
            </a:pPr>
            <a:r>
              <a:rPr lang="en-US" sz="955" dirty="0">
                <a:solidFill>
                  <a:srgbClr val="666666"/>
                </a:solidFill>
                <a:latin typeface="Aptos" pitchFamily="34" charset="0"/>
                <a:ea typeface="Aptos" pitchFamily="34" charset="-122"/>
                <a:cs typeface="Aptos" pitchFamily="34" charset="-120"/>
              </a:rPr>
              <a:t>A five-step pipeline turns SharePoint content into cited, reviewable answers.</a:t>
            </a:r>
            <a:endParaRPr lang="en-US" sz="955" dirty="0"/>
          </a:p>
        </p:txBody>
      </p:sp>
      <p:sp>
        <p:nvSpPr>
          <p:cNvPr id="36" name="Shape 34"/>
          <p:cNvSpPr/>
          <p:nvPr/>
        </p:nvSpPr>
        <p:spPr>
          <a:xfrm>
            <a:off x="6565392" y="3511296"/>
            <a:ext cx="182880" cy="182880"/>
          </a:xfrm>
          <a:prstGeom prst="ellipse">
            <a:avLst/>
          </a:prstGeom>
          <a:solidFill>
            <a:srgbClr val="0078D4"/>
          </a:solidFill>
          <a:ln w="12700">
            <a:solidFill>
              <a:srgbClr val="0078D4"/>
            </a:solidFill>
            <a:prstDash val="solid"/>
          </a:ln>
        </p:spPr>
        <p:txBody>
          <a:bodyPr/>
          <a:lstStyle/>
          <a:p>
            <a:endParaRPr lang="en-US"/>
          </a:p>
        </p:txBody>
      </p:sp>
      <p:sp>
        <p:nvSpPr>
          <p:cNvPr id="37" name="Text 35"/>
          <p:cNvSpPr/>
          <p:nvPr/>
        </p:nvSpPr>
        <p:spPr>
          <a:xfrm>
            <a:off x="6565392" y="3543300"/>
            <a:ext cx="182880" cy="82296"/>
          </a:xfrm>
          <a:prstGeom prst="rect">
            <a:avLst/>
          </a:prstGeom>
          <a:noFill/>
          <a:ln/>
        </p:spPr>
        <p:txBody>
          <a:bodyPr wrap="square" lIns="0" tIns="0" rIns="0" bIns="0" rtlCol="0" anchor="t">
            <a:normAutofit fontScale="92500" lnSpcReduction="20000"/>
          </a:bodyPr>
          <a:lstStyle/>
          <a:p>
            <a:pPr marL="0" indent="0" algn="ctr">
              <a:buNone/>
            </a:pPr>
            <a:r>
              <a:rPr lang="en-US" sz="640" b="1" dirty="0">
                <a:solidFill>
                  <a:srgbClr val="FFFFFF"/>
                </a:solidFill>
                <a:latin typeface="Aptos" pitchFamily="34" charset="0"/>
                <a:ea typeface="Aptos" pitchFamily="34" charset="-122"/>
                <a:cs typeface="Aptos" pitchFamily="34" charset="-120"/>
              </a:rPr>
              <a:t>1</a:t>
            </a:r>
            <a:endParaRPr lang="en-US" sz="640" dirty="0"/>
          </a:p>
        </p:txBody>
      </p:sp>
      <p:sp>
        <p:nvSpPr>
          <p:cNvPr id="38" name="Text 36"/>
          <p:cNvSpPr/>
          <p:nvPr/>
        </p:nvSpPr>
        <p:spPr>
          <a:xfrm>
            <a:off x="6821424" y="3483864"/>
            <a:ext cx="1920240" cy="137160"/>
          </a:xfrm>
          <a:prstGeom prst="rect">
            <a:avLst/>
          </a:prstGeom>
          <a:noFill/>
          <a:ln/>
        </p:spPr>
        <p:txBody>
          <a:bodyPr wrap="square" lIns="0" tIns="0" rIns="0" bIns="0" rtlCol="0" anchor="t">
            <a:normAutofit/>
          </a:bodyPr>
          <a:lstStyle/>
          <a:p>
            <a:pPr marL="0" indent="0" algn="l">
              <a:buNone/>
            </a:pPr>
            <a:r>
              <a:rPr lang="en-US" sz="860" b="1" dirty="0">
                <a:solidFill>
                  <a:srgbClr val="1F1F1F"/>
                </a:solidFill>
                <a:latin typeface="Aptos" pitchFamily="34" charset="0"/>
                <a:ea typeface="Aptos" pitchFamily="34" charset="-122"/>
                <a:cs typeface="Aptos" pitchFamily="34" charset="-120"/>
              </a:rPr>
              <a:t>SharePoint</a:t>
            </a:r>
            <a:endParaRPr lang="en-US" sz="860" dirty="0"/>
          </a:p>
        </p:txBody>
      </p:sp>
      <p:sp>
        <p:nvSpPr>
          <p:cNvPr id="39" name="Text 37"/>
          <p:cNvSpPr/>
          <p:nvPr/>
        </p:nvSpPr>
        <p:spPr>
          <a:xfrm>
            <a:off x="6821424" y="3630168"/>
            <a:ext cx="1920240" cy="137160"/>
          </a:xfrm>
          <a:prstGeom prst="rect">
            <a:avLst/>
          </a:prstGeom>
          <a:noFill/>
          <a:ln/>
        </p:spPr>
        <p:txBody>
          <a:bodyPr wrap="square" lIns="0" tIns="0" rIns="0" bIns="0" rtlCol="0" anchor="t">
            <a:normAutofit/>
          </a:bodyPr>
          <a:lstStyle/>
          <a:p>
            <a:pPr marL="0" indent="0" algn="l">
              <a:buNone/>
            </a:pPr>
            <a:r>
              <a:rPr lang="en-US" sz="710" dirty="0">
                <a:solidFill>
                  <a:srgbClr val="666666"/>
                </a:solidFill>
                <a:latin typeface="Aptos" pitchFamily="34" charset="0"/>
                <a:ea typeface="Aptos" pitchFamily="34" charset="-122"/>
                <a:cs typeface="Aptos" pitchFamily="34" charset="-120"/>
              </a:rPr>
              <a:t>Source docs + image assets</a:t>
            </a:r>
            <a:endParaRPr lang="en-US" sz="710" dirty="0"/>
          </a:p>
        </p:txBody>
      </p:sp>
      <p:sp>
        <p:nvSpPr>
          <p:cNvPr id="40" name="Shape 38"/>
          <p:cNvSpPr/>
          <p:nvPr/>
        </p:nvSpPr>
        <p:spPr>
          <a:xfrm>
            <a:off x="6565392" y="3822192"/>
            <a:ext cx="182880" cy="182880"/>
          </a:xfrm>
          <a:prstGeom prst="ellipse">
            <a:avLst/>
          </a:prstGeom>
          <a:solidFill>
            <a:srgbClr val="107C10"/>
          </a:solidFill>
          <a:ln w="12700">
            <a:solidFill>
              <a:srgbClr val="107C10"/>
            </a:solidFill>
            <a:prstDash val="solid"/>
          </a:ln>
        </p:spPr>
        <p:txBody>
          <a:bodyPr/>
          <a:lstStyle/>
          <a:p>
            <a:endParaRPr lang="en-US"/>
          </a:p>
        </p:txBody>
      </p:sp>
      <p:sp>
        <p:nvSpPr>
          <p:cNvPr id="41" name="Text 39"/>
          <p:cNvSpPr/>
          <p:nvPr/>
        </p:nvSpPr>
        <p:spPr>
          <a:xfrm>
            <a:off x="6565392" y="3854196"/>
            <a:ext cx="182880" cy="82296"/>
          </a:xfrm>
          <a:prstGeom prst="rect">
            <a:avLst/>
          </a:prstGeom>
          <a:noFill/>
          <a:ln/>
        </p:spPr>
        <p:txBody>
          <a:bodyPr wrap="square" lIns="0" tIns="0" rIns="0" bIns="0" rtlCol="0" anchor="t">
            <a:normAutofit fontScale="92500" lnSpcReduction="20000"/>
          </a:bodyPr>
          <a:lstStyle/>
          <a:p>
            <a:pPr marL="0" indent="0" algn="ctr">
              <a:buNone/>
            </a:pPr>
            <a:r>
              <a:rPr lang="en-US" sz="640" b="1" dirty="0">
                <a:solidFill>
                  <a:srgbClr val="FFFFFF"/>
                </a:solidFill>
                <a:latin typeface="Aptos" pitchFamily="34" charset="0"/>
                <a:ea typeface="Aptos" pitchFamily="34" charset="-122"/>
                <a:cs typeface="Aptos" pitchFamily="34" charset="-120"/>
              </a:rPr>
              <a:t>2</a:t>
            </a:r>
            <a:endParaRPr lang="en-US" sz="640" dirty="0"/>
          </a:p>
        </p:txBody>
      </p:sp>
      <p:sp>
        <p:nvSpPr>
          <p:cNvPr id="42" name="Text 40"/>
          <p:cNvSpPr/>
          <p:nvPr/>
        </p:nvSpPr>
        <p:spPr>
          <a:xfrm>
            <a:off x="6821424" y="3794760"/>
            <a:ext cx="1920240" cy="137160"/>
          </a:xfrm>
          <a:prstGeom prst="rect">
            <a:avLst/>
          </a:prstGeom>
          <a:noFill/>
          <a:ln/>
        </p:spPr>
        <p:txBody>
          <a:bodyPr wrap="square" lIns="0" tIns="0" rIns="0" bIns="0" rtlCol="0" anchor="t">
            <a:normAutofit/>
          </a:bodyPr>
          <a:lstStyle/>
          <a:p>
            <a:pPr marL="0" indent="0" algn="l">
              <a:buNone/>
            </a:pPr>
            <a:r>
              <a:rPr lang="en-US" sz="860" b="1" dirty="0">
                <a:solidFill>
                  <a:srgbClr val="1F1F1F"/>
                </a:solidFill>
                <a:latin typeface="Aptos" pitchFamily="34" charset="0"/>
                <a:ea typeface="Aptos" pitchFamily="34" charset="-122"/>
                <a:cs typeface="Aptos" pitchFamily="34" charset="-120"/>
              </a:rPr>
              <a:t>Extract</a:t>
            </a:r>
            <a:endParaRPr lang="en-US" sz="860" dirty="0"/>
          </a:p>
        </p:txBody>
      </p:sp>
      <p:sp>
        <p:nvSpPr>
          <p:cNvPr id="43" name="Text 41"/>
          <p:cNvSpPr/>
          <p:nvPr/>
        </p:nvSpPr>
        <p:spPr>
          <a:xfrm>
            <a:off x="6821424" y="3941064"/>
            <a:ext cx="1920240" cy="137160"/>
          </a:xfrm>
          <a:prstGeom prst="rect">
            <a:avLst/>
          </a:prstGeom>
          <a:noFill/>
          <a:ln/>
        </p:spPr>
        <p:txBody>
          <a:bodyPr wrap="square" lIns="0" tIns="0" rIns="0" bIns="0" rtlCol="0" anchor="t">
            <a:normAutofit/>
          </a:bodyPr>
          <a:lstStyle/>
          <a:p>
            <a:pPr marL="0" indent="0" algn="l">
              <a:buNone/>
            </a:pPr>
            <a:r>
              <a:rPr lang="en-US" sz="710" dirty="0">
                <a:solidFill>
                  <a:srgbClr val="666666"/>
                </a:solidFill>
                <a:latin typeface="Aptos" pitchFamily="34" charset="0"/>
                <a:ea typeface="Aptos" pitchFamily="34" charset="-122"/>
                <a:cs typeface="Aptos" pitchFamily="34" charset="-120"/>
              </a:rPr>
              <a:t>Doc Intelligence OCR + Vision</a:t>
            </a:r>
            <a:endParaRPr lang="en-US" sz="710" dirty="0"/>
          </a:p>
        </p:txBody>
      </p:sp>
      <p:sp>
        <p:nvSpPr>
          <p:cNvPr id="44" name="Shape 42"/>
          <p:cNvSpPr/>
          <p:nvPr/>
        </p:nvSpPr>
        <p:spPr>
          <a:xfrm>
            <a:off x="6565392" y="4133088"/>
            <a:ext cx="182880" cy="182880"/>
          </a:xfrm>
          <a:prstGeom prst="ellipse">
            <a:avLst/>
          </a:prstGeom>
          <a:solidFill>
            <a:srgbClr val="0078D4"/>
          </a:solidFill>
          <a:ln w="12700">
            <a:solidFill>
              <a:srgbClr val="0078D4"/>
            </a:solidFill>
            <a:prstDash val="solid"/>
          </a:ln>
        </p:spPr>
        <p:txBody>
          <a:bodyPr/>
          <a:lstStyle/>
          <a:p>
            <a:endParaRPr lang="en-US"/>
          </a:p>
        </p:txBody>
      </p:sp>
      <p:sp>
        <p:nvSpPr>
          <p:cNvPr id="45" name="Text 43"/>
          <p:cNvSpPr/>
          <p:nvPr/>
        </p:nvSpPr>
        <p:spPr>
          <a:xfrm>
            <a:off x="6565392" y="4165092"/>
            <a:ext cx="182880" cy="82296"/>
          </a:xfrm>
          <a:prstGeom prst="rect">
            <a:avLst/>
          </a:prstGeom>
          <a:noFill/>
          <a:ln/>
        </p:spPr>
        <p:txBody>
          <a:bodyPr wrap="square" lIns="0" tIns="0" rIns="0" bIns="0" rtlCol="0" anchor="t">
            <a:normAutofit fontScale="92500" lnSpcReduction="20000"/>
          </a:bodyPr>
          <a:lstStyle/>
          <a:p>
            <a:pPr marL="0" indent="0" algn="ctr">
              <a:buNone/>
            </a:pPr>
            <a:r>
              <a:rPr lang="en-US" sz="640" b="1" dirty="0">
                <a:solidFill>
                  <a:srgbClr val="FFFFFF"/>
                </a:solidFill>
                <a:latin typeface="Aptos" pitchFamily="34" charset="0"/>
                <a:ea typeface="Aptos" pitchFamily="34" charset="-122"/>
                <a:cs typeface="Aptos" pitchFamily="34" charset="-120"/>
              </a:rPr>
              <a:t>3</a:t>
            </a:r>
            <a:endParaRPr lang="en-US" sz="640" dirty="0"/>
          </a:p>
        </p:txBody>
      </p:sp>
      <p:sp>
        <p:nvSpPr>
          <p:cNvPr id="46" name="Text 44"/>
          <p:cNvSpPr/>
          <p:nvPr/>
        </p:nvSpPr>
        <p:spPr>
          <a:xfrm>
            <a:off x="6821424" y="4105656"/>
            <a:ext cx="1920240" cy="137160"/>
          </a:xfrm>
          <a:prstGeom prst="rect">
            <a:avLst/>
          </a:prstGeom>
          <a:noFill/>
          <a:ln/>
        </p:spPr>
        <p:txBody>
          <a:bodyPr wrap="square" lIns="0" tIns="0" rIns="0" bIns="0" rtlCol="0" anchor="t">
            <a:normAutofit/>
          </a:bodyPr>
          <a:lstStyle/>
          <a:p>
            <a:pPr marL="0" indent="0" algn="l">
              <a:buNone/>
            </a:pPr>
            <a:r>
              <a:rPr lang="en-US" sz="860" b="1" dirty="0">
                <a:solidFill>
                  <a:srgbClr val="1F1F1F"/>
                </a:solidFill>
                <a:latin typeface="Aptos" pitchFamily="34" charset="0"/>
                <a:ea typeface="Aptos" pitchFamily="34" charset="-122"/>
                <a:cs typeface="Aptos" pitchFamily="34" charset="-120"/>
              </a:rPr>
              <a:t>Index</a:t>
            </a:r>
            <a:endParaRPr lang="en-US" sz="860" dirty="0"/>
          </a:p>
        </p:txBody>
      </p:sp>
      <p:sp>
        <p:nvSpPr>
          <p:cNvPr id="47" name="Text 45"/>
          <p:cNvSpPr/>
          <p:nvPr/>
        </p:nvSpPr>
        <p:spPr>
          <a:xfrm>
            <a:off x="6821424" y="4251960"/>
            <a:ext cx="1920240" cy="137160"/>
          </a:xfrm>
          <a:prstGeom prst="rect">
            <a:avLst/>
          </a:prstGeom>
          <a:noFill/>
          <a:ln/>
        </p:spPr>
        <p:txBody>
          <a:bodyPr wrap="square" lIns="0" tIns="0" rIns="0" bIns="0" rtlCol="0" anchor="t">
            <a:normAutofit/>
          </a:bodyPr>
          <a:lstStyle/>
          <a:p>
            <a:pPr marL="0" indent="0" algn="l">
              <a:buNone/>
            </a:pPr>
            <a:r>
              <a:rPr lang="en-US" sz="710" dirty="0">
                <a:solidFill>
                  <a:srgbClr val="666666"/>
                </a:solidFill>
                <a:latin typeface="Aptos" pitchFamily="34" charset="0"/>
                <a:ea typeface="Aptos" pitchFamily="34" charset="-122"/>
                <a:cs typeface="Aptos" pitchFamily="34" charset="-120"/>
              </a:rPr>
              <a:t>AI Search: text + visual records</a:t>
            </a:r>
            <a:endParaRPr lang="en-US" sz="710" dirty="0"/>
          </a:p>
        </p:txBody>
      </p:sp>
      <p:sp>
        <p:nvSpPr>
          <p:cNvPr id="48" name="Shape 46"/>
          <p:cNvSpPr/>
          <p:nvPr/>
        </p:nvSpPr>
        <p:spPr>
          <a:xfrm>
            <a:off x="6565392" y="4443984"/>
            <a:ext cx="182880" cy="182880"/>
          </a:xfrm>
          <a:prstGeom prst="ellipse">
            <a:avLst/>
          </a:prstGeom>
          <a:solidFill>
            <a:srgbClr val="CA5010"/>
          </a:solidFill>
          <a:ln w="12700">
            <a:solidFill>
              <a:srgbClr val="CA5010"/>
            </a:solidFill>
            <a:prstDash val="solid"/>
          </a:ln>
        </p:spPr>
        <p:txBody>
          <a:bodyPr/>
          <a:lstStyle/>
          <a:p>
            <a:endParaRPr lang="en-US"/>
          </a:p>
        </p:txBody>
      </p:sp>
      <p:sp>
        <p:nvSpPr>
          <p:cNvPr id="49" name="Text 47"/>
          <p:cNvSpPr/>
          <p:nvPr/>
        </p:nvSpPr>
        <p:spPr>
          <a:xfrm>
            <a:off x="6565392" y="4475988"/>
            <a:ext cx="182880" cy="82296"/>
          </a:xfrm>
          <a:prstGeom prst="rect">
            <a:avLst/>
          </a:prstGeom>
          <a:noFill/>
          <a:ln/>
        </p:spPr>
        <p:txBody>
          <a:bodyPr wrap="square" lIns="0" tIns="0" rIns="0" bIns="0" rtlCol="0" anchor="t">
            <a:normAutofit fontScale="92500" lnSpcReduction="20000"/>
          </a:bodyPr>
          <a:lstStyle/>
          <a:p>
            <a:pPr marL="0" indent="0" algn="ctr">
              <a:buNone/>
            </a:pPr>
            <a:r>
              <a:rPr lang="en-US" sz="640" b="1" dirty="0">
                <a:solidFill>
                  <a:srgbClr val="FFFFFF"/>
                </a:solidFill>
                <a:latin typeface="Aptos" pitchFamily="34" charset="0"/>
                <a:ea typeface="Aptos" pitchFamily="34" charset="-122"/>
                <a:cs typeface="Aptos" pitchFamily="34" charset="-120"/>
              </a:rPr>
              <a:t>4</a:t>
            </a:r>
            <a:endParaRPr lang="en-US" sz="640" dirty="0"/>
          </a:p>
        </p:txBody>
      </p:sp>
      <p:sp>
        <p:nvSpPr>
          <p:cNvPr id="50" name="Text 48"/>
          <p:cNvSpPr/>
          <p:nvPr/>
        </p:nvSpPr>
        <p:spPr>
          <a:xfrm>
            <a:off x="6821424" y="4416552"/>
            <a:ext cx="1920240" cy="137160"/>
          </a:xfrm>
          <a:prstGeom prst="rect">
            <a:avLst/>
          </a:prstGeom>
          <a:noFill/>
          <a:ln/>
        </p:spPr>
        <p:txBody>
          <a:bodyPr wrap="square" lIns="0" tIns="0" rIns="0" bIns="0" rtlCol="0" anchor="t">
            <a:normAutofit/>
          </a:bodyPr>
          <a:lstStyle/>
          <a:p>
            <a:pPr marL="0" indent="0" algn="l">
              <a:buNone/>
            </a:pPr>
            <a:r>
              <a:rPr lang="en-US" sz="860" b="1" dirty="0">
                <a:solidFill>
                  <a:srgbClr val="1F1F1F"/>
                </a:solidFill>
                <a:latin typeface="Aptos" pitchFamily="34" charset="0"/>
                <a:ea typeface="Aptos" pitchFamily="34" charset="-122"/>
                <a:cs typeface="Aptos" pitchFamily="34" charset="-120"/>
              </a:rPr>
              <a:t>Reason</a:t>
            </a:r>
            <a:endParaRPr lang="en-US" sz="860" dirty="0"/>
          </a:p>
        </p:txBody>
      </p:sp>
      <p:sp>
        <p:nvSpPr>
          <p:cNvPr id="51" name="Text 49"/>
          <p:cNvSpPr/>
          <p:nvPr/>
        </p:nvSpPr>
        <p:spPr>
          <a:xfrm>
            <a:off x="6821424" y="4562856"/>
            <a:ext cx="1920240" cy="137160"/>
          </a:xfrm>
          <a:prstGeom prst="rect">
            <a:avLst/>
          </a:prstGeom>
          <a:noFill/>
          <a:ln/>
        </p:spPr>
        <p:txBody>
          <a:bodyPr wrap="square" lIns="0" tIns="0" rIns="0" bIns="0" rtlCol="0" anchor="t">
            <a:normAutofit/>
          </a:bodyPr>
          <a:lstStyle/>
          <a:p>
            <a:pPr marL="0" indent="0" algn="l">
              <a:buNone/>
            </a:pPr>
            <a:r>
              <a:rPr lang="en-US" sz="710" dirty="0">
                <a:solidFill>
                  <a:srgbClr val="666666"/>
                </a:solidFill>
                <a:latin typeface="Aptos" pitchFamily="34" charset="0"/>
                <a:ea typeface="Aptos" pitchFamily="34" charset="-122"/>
                <a:cs typeface="Aptos" pitchFamily="34" charset="-120"/>
              </a:rPr>
              <a:t>Cited evidence to Azure OpenAI</a:t>
            </a:r>
            <a:endParaRPr lang="en-US" sz="710" dirty="0"/>
          </a:p>
        </p:txBody>
      </p:sp>
      <p:sp>
        <p:nvSpPr>
          <p:cNvPr id="52" name="Shape 50"/>
          <p:cNvSpPr/>
          <p:nvPr/>
        </p:nvSpPr>
        <p:spPr>
          <a:xfrm>
            <a:off x="6565392" y="4754880"/>
            <a:ext cx="182880" cy="182880"/>
          </a:xfrm>
          <a:prstGeom prst="ellipse">
            <a:avLst/>
          </a:prstGeom>
          <a:solidFill>
            <a:srgbClr val="E3008C"/>
          </a:solidFill>
          <a:ln w="12700">
            <a:solidFill>
              <a:srgbClr val="E3008C"/>
            </a:solidFill>
            <a:prstDash val="solid"/>
          </a:ln>
        </p:spPr>
        <p:txBody>
          <a:bodyPr/>
          <a:lstStyle/>
          <a:p>
            <a:endParaRPr lang="en-US"/>
          </a:p>
        </p:txBody>
      </p:sp>
      <p:sp>
        <p:nvSpPr>
          <p:cNvPr id="53" name="Text 51"/>
          <p:cNvSpPr/>
          <p:nvPr/>
        </p:nvSpPr>
        <p:spPr>
          <a:xfrm>
            <a:off x="6565392" y="4786884"/>
            <a:ext cx="182880" cy="82296"/>
          </a:xfrm>
          <a:prstGeom prst="rect">
            <a:avLst/>
          </a:prstGeom>
          <a:noFill/>
          <a:ln/>
        </p:spPr>
        <p:txBody>
          <a:bodyPr wrap="square" lIns="0" tIns="0" rIns="0" bIns="0" rtlCol="0" anchor="t">
            <a:normAutofit fontScale="92500" lnSpcReduction="20000"/>
          </a:bodyPr>
          <a:lstStyle/>
          <a:p>
            <a:pPr marL="0" indent="0" algn="ctr">
              <a:buNone/>
            </a:pPr>
            <a:r>
              <a:rPr lang="en-US" sz="640" b="1" dirty="0">
                <a:solidFill>
                  <a:srgbClr val="FFFFFF"/>
                </a:solidFill>
                <a:latin typeface="Aptos" pitchFamily="34" charset="0"/>
                <a:ea typeface="Aptos" pitchFamily="34" charset="-122"/>
                <a:cs typeface="Aptos" pitchFamily="34" charset="-120"/>
              </a:rPr>
              <a:t>5</a:t>
            </a:r>
            <a:endParaRPr lang="en-US" sz="640" dirty="0"/>
          </a:p>
        </p:txBody>
      </p:sp>
      <p:sp>
        <p:nvSpPr>
          <p:cNvPr id="54" name="Text 52"/>
          <p:cNvSpPr/>
          <p:nvPr/>
        </p:nvSpPr>
        <p:spPr>
          <a:xfrm>
            <a:off x="6821424" y="4727448"/>
            <a:ext cx="1920240" cy="137160"/>
          </a:xfrm>
          <a:prstGeom prst="rect">
            <a:avLst/>
          </a:prstGeom>
          <a:noFill/>
          <a:ln/>
        </p:spPr>
        <p:txBody>
          <a:bodyPr wrap="square" lIns="0" tIns="0" rIns="0" bIns="0" rtlCol="0" anchor="t">
            <a:normAutofit/>
          </a:bodyPr>
          <a:lstStyle/>
          <a:p>
            <a:pPr marL="0" indent="0" algn="l">
              <a:buNone/>
            </a:pPr>
            <a:r>
              <a:rPr lang="en-US" sz="860" b="1" dirty="0">
                <a:solidFill>
                  <a:srgbClr val="1F1F1F"/>
                </a:solidFill>
                <a:latin typeface="Aptos" pitchFamily="34" charset="0"/>
                <a:ea typeface="Aptos" pitchFamily="34" charset="-122"/>
                <a:cs typeface="Aptos" pitchFamily="34" charset="-120"/>
              </a:rPr>
              <a:t>Answer</a:t>
            </a:r>
            <a:endParaRPr lang="en-US" sz="860" dirty="0"/>
          </a:p>
        </p:txBody>
      </p:sp>
      <p:sp>
        <p:nvSpPr>
          <p:cNvPr id="55" name="Text 53"/>
          <p:cNvSpPr/>
          <p:nvPr/>
        </p:nvSpPr>
        <p:spPr>
          <a:xfrm>
            <a:off x="6821424" y="4873752"/>
            <a:ext cx="1920240" cy="137160"/>
          </a:xfrm>
          <a:prstGeom prst="rect">
            <a:avLst/>
          </a:prstGeom>
          <a:noFill/>
          <a:ln/>
        </p:spPr>
        <p:txBody>
          <a:bodyPr wrap="square" lIns="0" tIns="0" rIns="0" bIns="0" rtlCol="0" anchor="t">
            <a:normAutofit/>
          </a:bodyPr>
          <a:lstStyle/>
          <a:p>
            <a:pPr marL="0" indent="0" algn="l">
              <a:buNone/>
            </a:pPr>
            <a:r>
              <a:rPr lang="en-US" sz="710" dirty="0">
                <a:solidFill>
                  <a:srgbClr val="666666"/>
                </a:solidFill>
                <a:latin typeface="Aptos" pitchFamily="34" charset="0"/>
                <a:ea typeface="Aptos" pitchFamily="34" charset="-122"/>
                <a:cs typeface="Aptos" pitchFamily="34" charset="-120"/>
              </a:rPr>
              <a:t>Copilot Studio grounded answer</a:t>
            </a:r>
            <a:endParaRPr lang="en-US" sz="710" dirty="0"/>
          </a:p>
        </p:txBody>
      </p:sp>
      <p:sp>
        <p:nvSpPr>
          <p:cNvPr id="56" name="Shape 54"/>
          <p:cNvSpPr/>
          <p:nvPr/>
        </p:nvSpPr>
        <p:spPr>
          <a:xfrm>
            <a:off x="6565392" y="5303520"/>
            <a:ext cx="2176272" cy="0"/>
          </a:xfrm>
          <a:prstGeom prst="line">
            <a:avLst/>
          </a:prstGeom>
          <a:noFill/>
          <a:ln w="12700">
            <a:solidFill>
              <a:srgbClr val="E6E6E6"/>
            </a:solidFill>
            <a:prstDash val="solid"/>
          </a:ln>
        </p:spPr>
        <p:txBody>
          <a:bodyPr/>
          <a:lstStyle/>
          <a:p>
            <a:endParaRPr lang="en-US"/>
          </a:p>
        </p:txBody>
      </p:sp>
      <p:sp>
        <p:nvSpPr>
          <p:cNvPr id="57" name="Shape 55"/>
          <p:cNvSpPr/>
          <p:nvPr/>
        </p:nvSpPr>
        <p:spPr>
          <a:xfrm>
            <a:off x="6565392" y="5586984"/>
            <a:ext cx="54864" cy="256032"/>
          </a:xfrm>
          <a:prstGeom prst="rect">
            <a:avLst/>
          </a:prstGeom>
          <a:solidFill>
            <a:srgbClr val="CA5010"/>
          </a:solidFill>
          <a:ln w="12700">
            <a:solidFill>
              <a:srgbClr val="CA5010"/>
            </a:solidFill>
            <a:prstDash val="solid"/>
          </a:ln>
        </p:spPr>
        <p:txBody>
          <a:bodyPr/>
          <a:lstStyle/>
          <a:p>
            <a:endParaRPr lang="en-US"/>
          </a:p>
        </p:txBody>
      </p:sp>
      <p:sp>
        <p:nvSpPr>
          <p:cNvPr id="58" name="Text 56"/>
          <p:cNvSpPr/>
          <p:nvPr/>
        </p:nvSpPr>
        <p:spPr>
          <a:xfrm>
            <a:off x="6693408" y="5577840"/>
            <a:ext cx="2048256" cy="274320"/>
          </a:xfrm>
          <a:prstGeom prst="rect">
            <a:avLst/>
          </a:prstGeom>
          <a:noFill/>
          <a:ln/>
        </p:spPr>
        <p:txBody>
          <a:bodyPr wrap="square" lIns="0" tIns="0" rIns="0" bIns="0" rtlCol="0" anchor="t">
            <a:normAutofit/>
          </a:bodyPr>
          <a:lstStyle/>
          <a:p>
            <a:pPr marL="0" indent="0" algn="l">
              <a:buNone/>
            </a:pPr>
            <a:r>
              <a:rPr lang="en-US" sz="860" b="1" dirty="0">
                <a:solidFill>
                  <a:srgbClr val="E3008C"/>
                </a:solidFill>
                <a:latin typeface="Aptos" pitchFamily="34" charset="0"/>
                <a:ea typeface="Aptos" pitchFamily="34" charset="-122"/>
                <a:cs typeface="Aptos" pitchFamily="34" charset="-120"/>
              </a:rPr>
              <a:t>Architecture: front door plus evidence engine</a:t>
            </a:r>
            <a:endParaRPr lang="en-US" sz="860" dirty="0"/>
          </a:p>
        </p:txBody>
      </p:sp>
      <p:sp>
        <p:nvSpPr>
          <p:cNvPr id="59" name="Shape 57"/>
          <p:cNvSpPr/>
          <p:nvPr/>
        </p:nvSpPr>
        <p:spPr>
          <a:xfrm>
            <a:off x="9217152" y="2029968"/>
            <a:ext cx="2542032" cy="4114800"/>
          </a:xfrm>
          <a:prstGeom prst="rect">
            <a:avLst/>
          </a:prstGeom>
          <a:solidFill>
            <a:srgbClr val="FFFFFF"/>
          </a:solidFill>
          <a:ln w="12700">
            <a:solidFill>
              <a:srgbClr val="E6E6E6"/>
            </a:solidFill>
            <a:prstDash val="solid"/>
          </a:ln>
          <a:effectLst>
            <a:outerShdw blurRad="12700" dist="50800" dir="2700000" algn="bl" rotWithShape="0">
              <a:srgbClr val="D9D9D9">
                <a:alpha val="12000"/>
              </a:srgbClr>
            </a:outerShdw>
          </a:effectLst>
        </p:spPr>
        <p:txBody>
          <a:bodyPr/>
          <a:lstStyle/>
          <a:p>
            <a:endParaRPr lang="en-US"/>
          </a:p>
        </p:txBody>
      </p:sp>
      <p:sp>
        <p:nvSpPr>
          <p:cNvPr id="60" name="Shape 58"/>
          <p:cNvSpPr/>
          <p:nvPr/>
        </p:nvSpPr>
        <p:spPr>
          <a:xfrm>
            <a:off x="9308592" y="2011680"/>
            <a:ext cx="2359152" cy="50292"/>
          </a:xfrm>
          <a:prstGeom prst="rect">
            <a:avLst/>
          </a:prstGeom>
          <a:solidFill>
            <a:srgbClr val="E3008C"/>
          </a:solidFill>
          <a:ln w="7620">
            <a:solidFill>
              <a:srgbClr val="1F1F1F"/>
            </a:solidFill>
            <a:prstDash val="solid"/>
          </a:ln>
        </p:spPr>
        <p:txBody>
          <a:bodyPr/>
          <a:lstStyle/>
          <a:p>
            <a:endParaRPr lang="en-US"/>
          </a:p>
        </p:txBody>
      </p:sp>
      <p:sp>
        <p:nvSpPr>
          <p:cNvPr id="61" name="Text 59"/>
          <p:cNvSpPr/>
          <p:nvPr/>
        </p:nvSpPr>
        <p:spPr>
          <a:xfrm>
            <a:off x="9400032" y="2258568"/>
            <a:ext cx="2176272" cy="164592"/>
          </a:xfrm>
          <a:prstGeom prst="rect">
            <a:avLst/>
          </a:prstGeom>
          <a:noFill/>
          <a:ln/>
        </p:spPr>
        <p:txBody>
          <a:bodyPr wrap="square" lIns="0" tIns="0" rIns="0" bIns="0" rtlCol="0" anchor="t">
            <a:normAutofit/>
          </a:bodyPr>
          <a:lstStyle/>
          <a:p>
            <a:pPr marL="0" indent="0" algn="l">
              <a:buNone/>
            </a:pPr>
            <a:r>
              <a:rPr lang="en-US" sz="960" b="1" dirty="0">
                <a:solidFill>
                  <a:srgbClr val="E3008C"/>
                </a:solidFill>
                <a:latin typeface="Aptos" pitchFamily="34" charset="0"/>
                <a:ea typeface="Aptos" pitchFamily="34" charset="-122"/>
                <a:cs typeface="Aptos" pitchFamily="34" charset="-120"/>
              </a:rPr>
              <a:t>NEXT STEPS</a:t>
            </a:r>
            <a:endParaRPr lang="en-US" sz="960" dirty="0"/>
          </a:p>
        </p:txBody>
      </p:sp>
      <p:sp>
        <p:nvSpPr>
          <p:cNvPr id="62" name="Text 60"/>
          <p:cNvSpPr/>
          <p:nvPr/>
        </p:nvSpPr>
        <p:spPr>
          <a:xfrm>
            <a:off x="9400032" y="2560320"/>
            <a:ext cx="2176272" cy="411480"/>
          </a:xfrm>
          <a:prstGeom prst="rect">
            <a:avLst/>
          </a:prstGeom>
          <a:noFill/>
          <a:ln/>
        </p:spPr>
        <p:txBody>
          <a:bodyPr wrap="square" lIns="0" tIns="0" rIns="0" bIns="0" rtlCol="0" anchor="t">
            <a:normAutofit/>
          </a:bodyPr>
          <a:lstStyle/>
          <a:p>
            <a:pPr marL="0" indent="0" algn="l">
              <a:buNone/>
            </a:pPr>
            <a:r>
              <a:rPr lang="en-US" sz="1520" b="1" dirty="0">
                <a:solidFill>
                  <a:srgbClr val="1F1F1F"/>
                </a:solidFill>
                <a:latin typeface="Aptos Display" pitchFamily="34" charset="0"/>
                <a:ea typeface="Aptos Display" pitchFamily="34" charset="-122"/>
                <a:cs typeface="Aptos Display" pitchFamily="34" charset="-120"/>
              </a:rPr>
              <a:t>Take it further</a:t>
            </a:r>
            <a:endParaRPr lang="en-US" sz="1520" dirty="0"/>
          </a:p>
        </p:txBody>
      </p:sp>
      <p:sp>
        <p:nvSpPr>
          <p:cNvPr id="63" name="Text 61"/>
          <p:cNvSpPr/>
          <p:nvPr/>
        </p:nvSpPr>
        <p:spPr>
          <a:xfrm>
            <a:off x="9400032" y="3108960"/>
            <a:ext cx="2176272" cy="914400"/>
          </a:xfrm>
          <a:prstGeom prst="rect">
            <a:avLst/>
          </a:prstGeom>
          <a:noFill/>
          <a:ln/>
        </p:spPr>
        <p:txBody>
          <a:bodyPr wrap="square" lIns="0" tIns="0" rIns="0" bIns="0" rtlCol="0" anchor="t">
            <a:normAutofit/>
          </a:bodyPr>
          <a:lstStyle/>
          <a:p>
            <a:pPr marL="0" indent="0" algn="l">
              <a:buNone/>
            </a:pPr>
            <a:r>
              <a:rPr lang="en-US" sz="955" dirty="0">
                <a:solidFill>
                  <a:srgbClr val="666666"/>
                </a:solidFill>
                <a:latin typeface="Aptos" pitchFamily="34" charset="0"/>
                <a:ea typeface="Aptos" pitchFamily="34" charset="-122"/>
                <a:cs typeface="Aptos" pitchFamily="34" charset="-120"/>
              </a:rPr>
              <a:t>This is a reference pattern, not a finished product. Adapt it to your own vertical in three moves.</a:t>
            </a:r>
            <a:endParaRPr lang="en-US" sz="955" dirty="0"/>
          </a:p>
        </p:txBody>
      </p:sp>
      <p:sp>
        <p:nvSpPr>
          <p:cNvPr id="64" name="Text 62"/>
          <p:cNvSpPr/>
          <p:nvPr/>
        </p:nvSpPr>
        <p:spPr>
          <a:xfrm>
            <a:off x="9528048" y="3675888"/>
            <a:ext cx="2011680" cy="533400"/>
          </a:xfrm>
          <a:prstGeom prst="rect">
            <a:avLst/>
          </a:prstGeom>
          <a:noFill/>
          <a:ln/>
        </p:spPr>
        <p:txBody>
          <a:bodyPr wrap="square" lIns="0" tIns="0" rIns="0" bIns="0" rtlCol="0" anchor="t">
            <a:normAutofit/>
          </a:bodyPr>
          <a:lstStyle/>
          <a:p>
            <a:pPr marL="342900" indent="-342900" algn="l">
              <a:buSzPct val="100000"/>
              <a:buChar char="•"/>
            </a:pPr>
            <a:r>
              <a:rPr lang="en-US" sz="915" b="1" dirty="0">
                <a:solidFill>
                  <a:srgbClr val="1F1F1F"/>
                </a:solidFill>
                <a:latin typeface="Aptos" pitchFamily="34" charset="0"/>
                <a:ea typeface="Aptos" pitchFamily="34" charset="-122"/>
                <a:cs typeface="Aptos" pitchFamily="34" charset="-120"/>
              </a:rPr>
              <a:t>Fork the repo and swap in your own document corpus</a:t>
            </a:r>
            <a:endParaRPr lang="en-US" sz="915" dirty="0"/>
          </a:p>
        </p:txBody>
      </p:sp>
      <p:sp>
        <p:nvSpPr>
          <p:cNvPr id="65" name="Text 63"/>
          <p:cNvSpPr/>
          <p:nvPr/>
        </p:nvSpPr>
        <p:spPr>
          <a:xfrm>
            <a:off x="9528048" y="4209288"/>
            <a:ext cx="2011680" cy="533400"/>
          </a:xfrm>
          <a:prstGeom prst="rect">
            <a:avLst/>
          </a:prstGeom>
          <a:noFill/>
          <a:ln/>
        </p:spPr>
        <p:txBody>
          <a:bodyPr wrap="square" lIns="0" tIns="0" rIns="0" bIns="0" rtlCol="0" anchor="t">
            <a:normAutofit/>
          </a:bodyPr>
          <a:lstStyle/>
          <a:p>
            <a:pPr marL="342900" indent="-342900" algn="l">
              <a:buSzPct val="100000"/>
              <a:buChar char="•"/>
            </a:pPr>
            <a:r>
              <a:rPr lang="en-US" sz="915" b="1" dirty="0">
                <a:solidFill>
                  <a:srgbClr val="1F1F1F"/>
                </a:solidFill>
                <a:latin typeface="Aptos" pitchFamily="34" charset="0"/>
                <a:ea typeface="Aptos" pitchFamily="34" charset="-122"/>
                <a:cs typeface="Aptos" pitchFamily="34" charset="-120"/>
              </a:rPr>
              <a:t>Point the connector at your industry's compliance workflow</a:t>
            </a:r>
            <a:endParaRPr lang="en-US" sz="915" dirty="0"/>
          </a:p>
        </p:txBody>
      </p:sp>
      <p:sp>
        <p:nvSpPr>
          <p:cNvPr id="66" name="Text 64"/>
          <p:cNvSpPr/>
          <p:nvPr/>
        </p:nvSpPr>
        <p:spPr>
          <a:xfrm>
            <a:off x="9528048" y="4742688"/>
            <a:ext cx="2011680" cy="533400"/>
          </a:xfrm>
          <a:prstGeom prst="rect">
            <a:avLst/>
          </a:prstGeom>
          <a:noFill/>
          <a:ln/>
        </p:spPr>
        <p:txBody>
          <a:bodyPr wrap="square" lIns="0" tIns="0" rIns="0" bIns="0" rtlCol="0" anchor="t">
            <a:normAutofit/>
          </a:bodyPr>
          <a:lstStyle/>
          <a:p>
            <a:pPr marL="342900" indent="-342900" algn="l">
              <a:buSzPct val="100000"/>
              <a:buChar char="•"/>
            </a:pPr>
            <a:r>
              <a:rPr lang="en-US" sz="915" b="1" dirty="0">
                <a:solidFill>
                  <a:srgbClr val="1F1F1F"/>
                </a:solidFill>
                <a:latin typeface="Aptos" pitchFamily="34" charset="0"/>
                <a:ea typeface="Aptos" pitchFamily="34" charset="-122"/>
                <a:cs typeface="Aptos" pitchFamily="34" charset="-120"/>
              </a:rPr>
              <a:t>Scale with Container Apps or private endpoints as needed</a:t>
            </a:r>
            <a:endParaRPr lang="en-US" sz="915" dirty="0"/>
          </a:p>
        </p:txBody>
      </p:sp>
      <p:sp>
        <p:nvSpPr>
          <p:cNvPr id="67" name="Shape 65"/>
          <p:cNvSpPr/>
          <p:nvPr/>
        </p:nvSpPr>
        <p:spPr>
          <a:xfrm>
            <a:off x="9400032" y="5303520"/>
            <a:ext cx="2176272" cy="0"/>
          </a:xfrm>
          <a:prstGeom prst="line">
            <a:avLst/>
          </a:prstGeom>
          <a:noFill/>
          <a:ln w="12700">
            <a:solidFill>
              <a:srgbClr val="E6E6E6"/>
            </a:solidFill>
            <a:prstDash val="solid"/>
          </a:ln>
        </p:spPr>
        <p:txBody>
          <a:bodyPr/>
          <a:lstStyle/>
          <a:p>
            <a:endParaRPr lang="en-US"/>
          </a:p>
        </p:txBody>
      </p:sp>
      <p:sp>
        <p:nvSpPr>
          <p:cNvPr id="68" name="Shape 66"/>
          <p:cNvSpPr/>
          <p:nvPr/>
        </p:nvSpPr>
        <p:spPr>
          <a:xfrm>
            <a:off x="9400032" y="5586984"/>
            <a:ext cx="54864" cy="256032"/>
          </a:xfrm>
          <a:prstGeom prst="rect">
            <a:avLst/>
          </a:prstGeom>
          <a:solidFill>
            <a:srgbClr val="E3008C"/>
          </a:solidFill>
          <a:ln w="12700">
            <a:solidFill>
              <a:srgbClr val="E3008C"/>
            </a:solidFill>
            <a:prstDash val="solid"/>
          </a:ln>
        </p:spPr>
        <p:txBody>
          <a:bodyPr/>
          <a:lstStyle/>
          <a:p>
            <a:endParaRPr lang="en-US"/>
          </a:p>
        </p:txBody>
      </p:sp>
      <p:sp>
        <p:nvSpPr>
          <p:cNvPr id="69" name="Text 67"/>
          <p:cNvSpPr/>
          <p:nvPr/>
        </p:nvSpPr>
        <p:spPr>
          <a:xfrm>
            <a:off x="9528048" y="5577840"/>
            <a:ext cx="2048256" cy="274320"/>
          </a:xfrm>
          <a:prstGeom prst="rect">
            <a:avLst/>
          </a:prstGeom>
          <a:noFill/>
          <a:ln/>
        </p:spPr>
        <p:txBody>
          <a:bodyPr wrap="square" lIns="0" tIns="0" rIns="0" bIns="0" rtlCol="0" anchor="t">
            <a:normAutofit/>
          </a:bodyPr>
          <a:lstStyle/>
          <a:p>
            <a:pPr marL="0" indent="0" algn="l">
              <a:buNone/>
            </a:pPr>
            <a:r>
              <a:rPr lang="en-US" sz="860" b="1" dirty="0">
                <a:solidFill>
                  <a:srgbClr val="E3008C"/>
                </a:solidFill>
                <a:latin typeface="Aptos" pitchFamily="34" charset="0"/>
                <a:ea typeface="Aptos" pitchFamily="34" charset="-122"/>
                <a:cs typeface="Aptos" pitchFamily="34" charset="-120"/>
              </a:rPr>
              <a:t>Next: fork it, swap the corpus, deploy your own</a:t>
            </a:r>
            <a:endParaRPr lang="en-US" sz="860" dirty="0"/>
          </a:p>
        </p:txBody>
      </p:sp>
      <p:sp>
        <p:nvSpPr>
          <p:cNvPr id="70" name="Shape 68"/>
          <p:cNvSpPr/>
          <p:nvPr/>
        </p:nvSpPr>
        <p:spPr>
          <a:xfrm>
            <a:off x="896112" y="6217920"/>
            <a:ext cx="10387584" cy="0"/>
          </a:xfrm>
          <a:prstGeom prst="line">
            <a:avLst/>
          </a:prstGeom>
          <a:noFill/>
          <a:ln w="12700">
            <a:solidFill>
              <a:srgbClr val="E6E6E6"/>
            </a:solidFill>
            <a:prstDash val="solid"/>
          </a:ln>
        </p:spPr>
        <p:txBody>
          <a:bodyPr/>
          <a:lstStyle/>
          <a:p>
            <a:endParaRPr lang="en-US"/>
          </a:p>
        </p:txBody>
      </p:sp>
      <p:sp>
        <p:nvSpPr>
          <p:cNvPr id="71" name="Shape 69"/>
          <p:cNvSpPr/>
          <p:nvPr/>
        </p:nvSpPr>
        <p:spPr>
          <a:xfrm>
            <a:off x="914400" y="6309360"/>
            <a:ext cx="1572768" cy="384048"/>
          </a:xfrm>
          <a:prstGeom prst="roundRect">
            <a:avLst>
              <a:gd name="adj" fmla="val 7143"/>
            </a:avLst>
          </a:prstGeom>
          <a:solidFill>
            <a:srgbClr val="FFFFFF"/>
          </a:solidFill>
          <a:ln w="12700">
            <a:solidFill>
              <a:srgbClr val="E6E6E6"/>
            </a:solidFill>
            <a:prstDash val="solid"/>
          </a:ln>
        </p:spPr>
        <p:txBody>
          <a:bodyPr/>
          <a:lstStyle/>
          <a:p>
            <a:endParaRPr lang="en-US"/>
          </a:p>
        </p:txBody>
      </p:sp>
      <p:sp>
        <p:nvSpPr>
          <p:cNvPr id="72" name="Shape 70"/>
          <p:cNvSpPr/>
          <p:nvPr/>
        </p:nvSpPr>
        <p:spPr>
          <a:xfrm>
            <a:off x="914400" y="6309360"/>
            <a:ext cx="1572768" cy="54864"/>
          </a:xfrm>
          <a:prstGeom prst="rect">
            <a:avLst/>
          </a:prstGeom>
          <a:solidFill>
            <a:srgbClr val="E3008C"/>
          </a:solidFill>
          <a:ln w="12700">
            <a:solidFill>
              <a:srgbClr val="E3008C"/>
            </a:solidFill>
            <a:prstDash val="solid"/>
          </a:ln>
        </p:spPr>
        <p:txBody>
          <a:bodyPr/>
          <a:lstStyle/>
          <a:p>
            <a:endParaRPr lang="en-US"/>
          </a:p>
        </p:txBody>
      </p:sp>
      <p:sp>
        <p:nvSpPr>
          <p:cNvPr id="73" name="Text 71"/>
          <p:cNvSpPr/>
          <p:nvPr/>
        </p:nvSpPr>
        <p:spPr>
          <a:xfrm>
            <a:off x="969264" y="6455664"/>
            <a:ext cx="1463040" cy="201168"/>
          </a:xfrm>
          <a:prstGeom prst="rect">
            <a:avLst/>
          </a:prstGeom>
          <a:noFill/>
          <a:ln/>
        </p:spPr>
        <p:txBody>
          <a:bodyPr wrap="square" lIns="0" tIns="0" rIns="0" bIns="0" rtlCol="0" anchor="t">
            <a:normAutofit/>
          </a:bodyPr>
          <a:lstStyle/>
          <a:p>
            <a:pPr marL="0" indent="0" algn="ctr">
              <a:buNone/>
            </a:pPr>
            <a:r>
              <a:rPr lang="en-US" sz="860" b="1" dirty="0">
                <a:solidFill>
                  <a:srgbClr val="1F1F1F"/>
                </a:solidFill>
                <a:latin typeface="Aptos" pitchFamily="34" charset="0"/>
                <a:ea typeface="Aptos" pitchFamily="34" charset="-122"/>
                <a:cs typeface="Aptos" pitchFamily="34" charset="-120"/>
              </a:rPr>
              <a:t>Copilot Studio</a:t>
            </a:r>
            <a:endParaRPr lang="en-US" sz="860" dirty="0"/>
          </a:p>
        </p:txBody>
      </p:sp>
      <p:sp>
        <p:nvSpPr>
          <p:cNvPr id="74" name="Shape 72"/>
          <p:cNvSpPr/>
          <p:nvPr/>
        </p:nvSpPr>
        <p:spPr>
          <a:xfrm>
            <a:off x="2560320" y="6309360"/>
            <a:ext cx="1572768" cy="384048"/>
          </a:xfrm>
          <a:prstGeom prst="roundRect">
            <a:avLst>
              <a:gd name="adj" fmla="val 7143"/>
            </a:avLst>
          </a:prstGeom>
          <a:solidFill>
            <a:srgbClr val="FFFFFF"/>
          </a:solidFill>
          <a:ln w="12700">
            <a:solidFill>
              <a:srgbClr val="E6E6E6"/>
            </a:solidFill>
            <a:prstDash val="solid"/>
          </a:ln>
        </p:spPr>
        <p:txBody>
          <a:bodyPr/>
          <a:lstStyle/>
          <a:p>
            <a:endParaRPr lang="en-US"/>
          </a:p>
        </p:txBody>
      </p:sp>
      <p:sp>
        <p:nvSpPr>
          <p:cNvPr id="75" name="Shape 73"/>
          <p:cNvSpPr/>
          <p:nvPr/>
        </p:nvSpPr>
        <p:spPr>
          <a:xfrm>
            <a:off x="2560320" y="6309360"/>
            <a:ext cx="1572768" cy="54864"/>
          </a:xfrm>
          <a:prstGeom prst="rect">
            <a:avLst/>
          </a:prstGeom>
          <a:solidFill>
            <a:srgbClr val="0078D4"/>
          </a:solidFill>
          <a:ln w="12700">
            <a:solidFill>
              <a:srgbClr val="0078D4"/>
            </a:solidFill>
            <a:prstDash val="solid"/>
          </a:ln>
        </p:spPr>
        <p:txBody>
          <a:bodyPr/>
          <a:lstStyle/>
          <a:p>
            <a:endParaRPr lang="en-US"/>
          </a:p>
        </p:txBody>
      </p:sp>
      <p:sp>
        <p:nvSpPr>
          <p:cNvPr id="76" name="Text 74"/>
          <p:cNvSpPr/>
          <p:nvPr/>
        </p:nvSpPr>
        <p:spPr>
          <a:xfrm>
            <a:off x="2615184" y="6455664"/>
            <a:ext cx="1463040" cy="201168"/>
          </a:xfrm>
          <a:prstGeom prst="rect">
            <a:avLst/>
          </a:prstGeom>
          <a:noFill/>
          <a:ln/>
        </p:spPr>
        <p:txBody>
          <a:bodyPr wrap="square" lIns="0" tIns="0" rIns="0" bIns="0" rtlCol="0" anchor="t">
            <a:normAutofit/>
          </a:bodyPr>
          <a:lstStyle/>
          <a:p>
            <a:pPr marL="0" indent="0" algn="ctr">
              <a:buNone/>
            </a:pPr>
            <a:r>
              <a:rPr lang="en-US" sz="860" b="1" dirty="0">
                <a:solidFill>
                  <a:srgbClr val="1F1F1F"/>
                </a:solidFill>
                <a:latin typeface="Aptos" pitchFamily="34" charset="0"/>
                <a:ea typeface="Aptos" pitchFamily="34" charset="-122"/>
                <a:cs typeface="Aptos" pitchFamily="34" charset="-120"/>
              </a:rPr>
              <a:t>Document Intelligence</a:t>
            </a:r>
            <a:endParaRPr lang="en-US" sz="860" dirty="0"/>
          </a:p>
        </p:txBody>
      </p:sp>
      <p:sp>
        <p:nvSpPr>
          <p:cNvPr id="77" name="Shape 75"/>
          <p:cNvSpPr/>
          <p:nvPr/>
        </p:nvSpPr>
        <p:spPr>
          <a:xfrm>
            <a:off x="4206240" y="6309360"/>
            <a:ext cx="1572768" cy="384048"/>
          </a:xfrm>
          <a:prstGeom prst="roundRect">
            <a:avLst>
              <a:gd name="adj" fmla="val 7143"/>
            </a:avLst>
          </a:prstGeom>
          <a:solidFill>
            <a:srgbClr val="FFFFFF"/>
          </a:solidFill>
          <a:ln w="12700">
            <a:solidFill>
              <a:srgbClr val="E6E6E6"/>
            </a:solidFill>
            <a:prstDash val="solid"/>
          </a:ln>
        </p:spPr>
        <p:txBody>
          <a:bodyPr/>
          <a:lstStyle/>
          <a:p>
            <a:endParaRPr lang="en-US"/>
          </a:p>
        </p:txBody>
      </p:sp>
      <p:sp>
        <p:nvSpPr>
          <p:cNvPr id="78" name="Shape 76"/>
          <p:cNvSpPr/>
          <p:nvPr/>
        </p:nvSpPr>
        <p:spPr>
          <a:xfrm>
            <a:off x="4206240" y="6309360"/>
            <a:ext cx="1572768" cy="54864"/>
          </a:xfrm>
          <a:prstGeom prst="rect">
            <a:avLst/>
          </a:prstGeom>
          <a:solidFill>
            <a:srgbClr val="107C10"/>
          </a:solidFill>
          <a:ln w="12700">
            <a:solidFill>
              <a:srgbClr val="107C10"/>
            </a:solidFill>
            <a:prstDash val="solid"/>
          </a:ln>
        </p:spPr>
        <p:txBody>
          <a:bodyPr/>
          <a:lstStyle/>
          <a:p>
            <a:endParaRPr lang="en-US"/>
          </a:p>
        </p:txBody>
      </p:sp>
      <p:sp>
        <p:nvSpPr>
          <p:cNvPr id="79" name="Text 77"/>
          <p:cNvSpPr/>
          <p:nvPr/>
        </p:nvSpPr>
        <p:spPr>
          <a:xfrm>
            <a:off x="4261104" y="6455664"/>
            <a:ext cx="1463040" cy="201168"/>
          </a:xfrm>
          <a:prstGeom prst="rect">
            <a:avLst/>
          </a:prstGeom>
          <a:noFill/>
          <a:ln/>
        </p:spPr>
        <p:txBody>
          <a:bodyPr wrap="square" lIns="0" tIns="0" rIns="0" bIns="0" rtlCol="0" anchor="t">
            <a:normAutofit/>
          </a:bodyPr>
          <a:lstStyle/>
          <a:p>
            <a:pPr marL="0" indent="0" algn="ctr">
              <a:buNone/>
            </a:pPr>
            <a:r>
              <a:rPr lang="en-US" sz="860" b="1" dirty="0">
                <a:solidFill>
                  <a:srgbClr val="1F1F1F"/>
                </a:solidFill>
                <a:latin typeface="Aptos" pitchFamily="34" charset="0"/>
                <a:ea typeface="Aptos" pitchFamily="34" charset="-122"/>
                <a:cs typeface="Aptos" pitchFamily="34" charset="-120"/>
              </a:rPr>
              <a:t>Azure AI Vision</a:t>
            </a:r>
            <a:endParaRPr lang="en-US" sz="860" dirty="0"/>
          </a:p>
        </p:txBody>
      </p:sp>
      <p:sp>
        <p:nvSpPr>
          <p:cNvPr id="80" name="Shape 78"/>
          <p:cNvSpPr/>
          <p:nvPr/>
        </p:nvSpPr>
        <p:spPr>
          <a:xfrm>
            <a:off x="5852160" y="6309360"/>
            <a:ext cx="1572768" cy="384048"/>
          </a:xfrm>
          <a:prstGeom prst="roundRect">
            <a:avLst>
              <a:gd name="adj" fmla="val 7143"/>
            </a:avLst>
          </a:prstGeom>
          <a:solidFill>
            <a:srgbClr val="FFFFFF"/>
          </a:solidFill>
          <a:ln w="12700">
            <a:solidFill>
              <a:srgbClr val="E6E6E6"/>
            </a:solidFill>
            <a:prstDash val="solid"/>
          </a:ln>
        </p:spPr>
        <p:txBody>
          <a:bodyPr/>
          <a:lstStyle/>
          <a:p>
            <a:endParaRPr lang="en-US"/>
          </a:p>
        </p:txBody>
      </p:sp>
      <p:sp>
        <p:nvSpPr>
          <p:cNvPr id="81" name="Shape 79"/>
          <p:cNvSpPr/>
          <p:nvPr/>
        </p:nvSpPr>
        <p:spPr>
          <a:xfrm>
            <a:off x="5852160" y="6309360"/>
            <a:ext cx="1572768" cy="54864"/>
          </a:xfrm>
          <a:prstGeom prst="rect">
            <a:avLst/>
          </a:prstGeom>
          <a:solidFill>
            <a:srgbClr val="0078D4"/>
          </a:solidFill>
          <a:ln w="12700">
            <a:solidFill>
              <a:srgbClr val="0078D4"/>
            </a:solidFill>
            <a:prstDash val="solid"/>
          </a:ln>
        </p:spPr>
        <p:txBody>
          <a:bodyPr/>
          <a:lstStyle/>
          <a:p>
            <a:endParaRPr lang="en-US"/>
          </a:p>
        </p:txBody>
      </p:sp>
      <p:sp>
        <p:nvSpPr>
          <p:cNvPr id="82" name="Text 80"/>
          <p:cNvSpPr/>
          <p:nvPr/>
        </p:nvSpPr>
        <p:spPr>
          <a:xfrm>
            <a:off x="5907024" y="6455664"/>
            <a:ext cx="1463040" cy="201168"/>
          </a:xfrm>
          <a:prstGeom prst="rect">
            <a:avLst/>
          </a:prstGeom>
          <a:noFill/>
          <a:ln/>
        </p:spPr>
        <p:txBody>
          <a:bodyPr wrap="square" lIns="0" tIns="0" rIns="0" bIns="0" rtlCol="0" anchor="t">
            <a:normAutofit/>
          </a:bodyPr>
          <a:lstStyle/>
          <a:p>
            <a:pPr marL="0" indent="0" algn="ctr">
              <a:buNone/>
            </a:pPr>
            <a:r>
              <a:rPr lang="en-US" sz="860" b="1" dirty="0">
                <a:solidFill>
                  <a:srgbClr val="1F1F1F"/>
                </a:solidFill>
                <a:latin typeface="Aptos" pitchFamily="34" charset="0"/>
                <a:ea typeface="Aptos" pitchFamily="34" charset="-122"/>
                <a:cs typeface="Aptos" pitchFamily="34" charset="-120"/>
              </a:rPr>
              <a:t>Azure AI Search</a:t>
            </a:r>
            <a:endParaRPr lang="en-US" sz="860" dirty="0"/>
          </a:p>
        </p:txBody>
      </p:sp>
      <p:sp>
        <p:nvSpPr>
          <p:cNvPr id="83" name="Shape 81"/>
          <p:cNvSpPr/>
          <p:nvPr/>
        </p:nvSpPr>
        <p:spPr>
          <a:xfrm>
            <a:off x="7498080" y="6309360"/>
            <a:ext cx="1572768" cy="384048"/>
          </a:xfrm>
          <a:prstGeom prst="roundRect">
            <a:avLst>
              <a:gd name="adj" fmla="val 7143"/>
            </a:avLst>
          </a:prstGeom>
          <a:solidFill>
            <a:srgbClr val="FFFFFF"/>
          </a:solidFill>
          <a:ln w="12700">
            <a:solidFill>
              <a:srgbClr val="E6E6E6"/>
            </a:solidFill>
            <a:prstDash val="solid"/>
          </a:ln>
        </p:spPr>
        <p:txBody>
          <a:bodyPr/>
          <a:lstStyle/>
          <a:p>
            <a:endParaRPr lang="en-US"/>
          </a:p>
        </p:txBody>
      </p:sp>
      <p:sp>
        <p:nvSpPr>
          <p:cNvPr id="84" name="Shape 82"/>
          <p:cNvSpPr/>
          <p:nvPr/>
        </p:nvSpPr>
        <p:spPr>
          <a:xfrm>
            <a:off x="7498080" y="6309360"/>
            <a:ext cx="1572768" cy="54864"/>
          </a:xfrm>
          <a:prstGeom prst="rect">
            <a:avLst/>
          </a:prstGeom>
          <a:solidFill>
            <a:srgbClr val="CA5010"/>
          </a:solidFill>
          <a:ln w="12700">
            <a:solidFill>
              <a:srgbClr val="CA5010"/>
            </a:solidFill>
            <a:prstDash val="solid"/>
          </a:ln>
        </p:spPr>
        <p:txBody>
          <a:bodyPr/>
          <a:lstStyle/>
          <a:p>
            <a:endParaRPr lang="en-US"/>
          </a:p>
        </p:txBody>
      </p:sp>
      <p:sp>
        <p:nvSpPr>
          <p:cNvPr id="85" name="Text 83"/>
          <p:cNvSpPr/>
          <p:nvPr/>
        </p:nvSpPr>
        <p:spPr>
          <a:xfrm>
            <a:off x="7552944" y="6455664"/>
            <a:ext cx="1463040" cy="201168"/>
          </a:xfrm>
          <a:prstGeom prst="rect">
            <a:avLst/>
          </a:prstGeom>
          <a:noFill/>
          <a:ln/>
        </p:spPr>
        <p:txBody>
          <a:bodyPr wrap="square" lIns="0" tIns="0" rIns="0" bIns="0" rtlCol="0" anchor="t">
            <a:normAutofit/>
          </a:bodyPr>
          <a:lstStyle/>
          <a:p>
            <a:pPr marL="0" indent="0" algn="ctr">
              <a:buNone/>
            </a:pPr>
            <a:r>
              <a:rPr lang="en-US" sz="860" b="1" dirty="0">
                <a:solidFill>
                  <a:srgbClr val="1F1F1F"/>
                </a:solidFill>
                <a:latin typeface="Aptos" pitchFamily="34" charset="0"/>
                <a:ea typeface="Aptos" pitchFamily="34" charset="-122"/>
                <a:cs typeface="Aptos" pitchFamily="34" charset="-120"/>
              </a:rPr>
              <a:t>Azure OpenAI</a:t>
            </a:r>
            <a:endParaRPr lang="en-US" sz="860" dirty="0"/>
          </a:p>
        </p:txBody>
      </p:sp>
      <p:sp>
        <p:nvSpPr>
          <p:cNvPr id="86" name="Shape 84"/>
          <p:cNvSpPr/>
          <p:nvPr/>
        </p:nvSpPr>
        <p:spPr>
          <a:xfrm>
            <a:off x="9144000" y="6309360"/>
            <a:ext cx="1572768" cy="384048"/>
          </a:xfrm>
          <a:prstGeom prst="roundRect">
            <a:avLst>
              <a:gd name="adj" fmla="val 7143"/>
            </a:avLst>
          </a:prstGeom>
          <a:solidFill>
            <a:srgbClr val="FFFFFF"/>
          </a:solidFill>
          <a:ln w="12700">
            <a:solidFill>
              <a:srgbClr val="E6E6E6"/>
            </a:solidFill>
            <a:prstDash val="solid"/>
          </a:ln>
        </p:spPr>
        <p:txBody>
          <a:bodyPr/>
          <a:lstStyle/>
          <a:p>
            <a:endParaRPr lang="en-US"/>
          </a:p>
        </p:txBody>
      </p:sp>
      <p:sp>
        <p:nvSpPr>
          <p:cNvPr id="87" name="Shape 85"/>
          <p:cNvSpPr/>
          <p:nvPr/>
        </p:nvSpPr>
        <p:spPr>
          <a:xfrm>
            <a:off x="9144000" y="6309360"/>
            <a:ext cx="1572768" cy="54864"/>
          </a:xfrm>
          <a:prstGeom prst="rect">
            <a:avLst/>
          </a:prstGeom>
          <a:solidFill>
            <a:srgbClr val="107C10"/>
          </a:solidFill>
          <a:ln w="12700">
            <a:solidFill>
              <a:srgbClr val="107C10"/>
            </a:solidFill>
            <a:prstDash val="solid"/>
          </a:ln>
        </p:spPr>
        <p:txBody>
          <a:bodyPr/>
          <a:lstStyle/>
          <a:p>
            <a:endParaRPr lang="en-US"/>
          </a:p>
        </p:txBody>
      </p:sp>
      <p:sp>
        <p:nvSpPr>
          <p:cNvPr id="88" name="Text 86"/>
          <p:cNvSpPr/>
          <p:nvPr/>
        </p:nvSpPr>
        <p:spPr>
          <a:xfrm>
            <a:off x="9198864" y="6455664"/>
            <a:ext cx="1463040" cy="201168"/>
          </a:xfrm>
          <a:prstGeom prst="rect">
            <a:avLst/>
          </a:prstGeom>
          <a:noFill/>
          <a:ln/>
        </p:spPr>
        <p:txBody>
          <a:bodyPr wrap="square" lIns="0" tIns="0" rIns="0" bIns="0" rtlCol="0" anchor="t">
            <a:normAutofit/>
          </a:bodyPr>
          <a:lstStyle/>
          <a:p>
            <a:pPr marL="0" indent="0" algn="ctr">
              <a:buNone/>
            </a:pPr>
            <a:r>
              <a:rPr lang="en-US" sz="860" b="1" dirty="0">
                <a:solidFill>
                  <a:srgbClr val="1F1F1F"/>
                </a:solidFill>
                <a:latin typeface="Aptos" pitchFamily="34" charset="0"/>
                <a:ea typeface="Aptos" pitchFamily="34" charset="-122"/>
                <a:cs typeface="Aptos" pitchFamily="34" charset="-120"/>
              </a:rPr>
              <a:t>SharePoint</a:t>
            </a:r>
            <a:endParaRPr lang="en-US" sz="860" dirty="0"/>
          </a:p>
        </p:txBody>
      </p:sp>
      <p:sp>
        <p:nvSpPr>
          <p:cNvPr id="89" name="Text 87"/>
          <p:cNvSpPr/>
          <p:nvPr/>
        </p:nvSpPr>
        <p:spPr>
          <a:xfrm>
            <a:off x="914400" y="6729984"/>
            <a:ext cx="9692640" cy="82296"/>
          </a:xfrm>
          <a:prstGeom prst="rect">
            <a:avLst/>
          </a:prstGeom>
          <a:noFill/>
          <a:ln/>
        </p:spPr>
        <p:txBody>
          <a:bodyPr wrap="square" lIns="0" tIns="0" rIns="0" bIns="0" rtlCol="0" anchor="t">
            <a:normAutofit/>
          </a:bodyPr>
          <a:lstStyle/>
          <a:p>
            <a:pPr marL="0" indent="0" algn="ctr">
              <a:buNone/>
            </a:pPr>
            <a:r>
              <a:rPr lang="en-US" sz="660" dirty="0">
                <a:solidFill>
                  <a:srgbClr val="888888"/>
                </a:solidFill>
                <a:latin typeface="Aptos" pitchFamily="34" charset="0"/>
                <a:ea typeface="Aptos" pitchFamily="34" charset="-122"/>
                <a:cs typeface="Aptos" pitchFamily="34" charset="-120"/>
              </a:rPr>
              <a:t>Lab guide: 90-minute Renewable Energy Example - Corpus source: data/document-index-legal-compliance-90min.csv</a:t>
            </a:r>
            <a:endParaRPr lang="en-US" sz="660" dirty="0"/>
          </a:p>
        </p:txBody>
      </p:sp>
      <p:sp>
        <p:nvSpPr>
          <p:cNvPr id="95" name="Text 87"/>
          <p:cNvSpPr/>
          <p:nvPr/>
        </p:nvSpPr>
        <p:spPr>
          <a:xfrm>
            <a:off x="914400" y="6729984"/>
            <a:ext cx="9692640" cy="82296"/>
          </a:xfrm>
          <a:prstGeom prst="rect">
            <a:avLst/>
          </a:prstGeom>
          <a:noFill/>
          <a:ln/>
        </p:spPr>
        <p:txBody>
          <a:bodyPr wrap="square" lIns="0" tIns="0" rIns="0" bIns="0" rtlCol="0" anchor="t">
            <a:normAutofit/>
          </a:bodyPr>
          <a:lstStyle/>
          <a:p>
            <a:pPr marL="0" indent="0" algn="ctr">
              <a:buNone/>
            </a:pPr>
            <a:r>
              <a:rPr lang="en-US" sz="660" dirty="0">
                <a:solidFill>
                  <a:srgbClr val="888888"/>
                </a:solidFill>
                <a:latin typeface="Aptos" pitchFamily="34" charset="0"/>
                <a:ea typeface="Aptos" pitchFamily="34" charset="-122"/>
                <a:cs typeface="Aptos" pitchFamily="34" charset="-120"/>
              </a:rPr>
              <a:t>Lab guide: 90-minute Renewable Energy Example - Corpus source: data/document-index-legal-compliance-90min.csv</a:t>
            </a:r>
            <a:endParaRPr lang="en-US" sz="660" dirty="0"/>
          </a:p>
        </p:txBody>
      </p:sp>
      <p:sp>
        <p:nvSpPr>
          <p:cNvPr id="94" name="Text 87"/>
          <p:cNvSpPr/>
          <p:nvPr/>
        </p:nvSpPr>
        <p:spPr>
          <a:xfrm>
            <a:off x="914400" y="6729984"/>
            <a:ext cx="9692640" cy="82296"/>
          </a:xfrm>
          <a:prstGeom prst="rect">
            <a:avLst/>
          </a:prstGeom>
          <a:noFill/>
          <a:ln/>
        </p:spPr>
        <p:txBody>
          <a:bodyPr wrap="square" lIns="0" tIns="0" rIns="0" bIns="0" rtlCol="0" anchor="t">
            <a:normAutofit fontScale="92500" lnSpcReduction="20000"/>
          </a:bodyPr>
          <a:lstStyle/>
          <a:p>
            <a:pPr marL="0" indent="0" algn="ctr">
              <a:buNone/>
            </a:pPr>
            <a:r>
              <a:rPr lang="en-US" sz="660" dirty="0">
                <a:solidFill>
                  <a:srgbClr val="888888"/>
                </a:solidFill>
                <a:latin typeface="Aptos" pitchFamily="34" charset="0"/>
                <a:ea typeface="Aptos" pitchFamily="34" charset="-122"/>
                <a:cs typeface="Aptos" pitchFamily="34" charset="-120"/>
              </a:rPr>
              <a:t>Lab guide: 90-minute Renewable Energy Example - Corpus source: data/document-index-legal-compliance-90min.csv</a:t>
            </a:r>
            <a:endParaRPr lang="en-US" sz="660" dirty="0"/>
          </a:p>
        </p:txBody>
      </p:sp>
      <p:sp>
        <p:nvSpPr>
          <p:cNvPr id="93" name="Text 87"/>
          <p:cNvSpPr/>
          <p:nvPr/>
        </p:nvSpPr>
        <p:spPr>
          <a:xfrm>
            <a:off x="914400" y="6729984"/>
            <a:ext cx="9692640" cy="82296"/>
          </a:xfrm>
          <a:prstGeom prst="rect">
            <a:avLst/>
          </a:prstGeom>
          <a:noFill/>
          <a:ln/>
        </p:spPr>
        <p:txBody>
          <a:bodyPr wrap="square" lIns="0" tIns="0" rIns="0" bIns="0" rtlCol="0" anchor="t">
            <a:normAutofit fontScale="92500" lnSpcReduction="20000"/>
          </a:bodyPr>
          <a:lstStyle/>
          <a:p>
            <a:pPr marL="0" indent="0" algn="ctr">
              <a:buNone/>
            </a:pPr>
            <a:r>
              <a:rPr lang="en-US" sz="660" dirty="0">
                <a:solidFill>
                  <a:srgbClr val="888888"/>
                </a:solidFill>
                <a:latin typeface="Aptos" pitchFamily="34" charset="0"/>
                <a:ea typeface="Aptos" pitchFamily="34" charset="-122"/>
                <a:cs typeface="Aptos" pitchFamily="34" charset="-120"/>
              </a:rPr>
              <a:t>Lab guide: 90-minute Renewable Energy Example - Corpus source: data/document-index-legal-compliance-90min.csv</a:t>
            </a:r>
            <a:endParaRPr lang="en-US" sz="660" dirty="0"/>
          </a:p>
        </p:txBody>
      </p:sp>
      <p:sp>
        <p:nvSpPr>
          <p:cNvPr id="92" name="Text 87"/>
          <p:cNvSpPr/>
          <p:nvPr/>
        </p:nvSpPr>
        <p:spPr>
          <a:xfrm>
            <a:off x="914400" y="6729984"/>
            <a:ext cx="9692640" cy="82296"/>
          </a:xfrm>
          <a:prstGeom prst="rect">
            <a:avLst/>
          </a:prstGeom>
          <a:noFill/>
          <a:ln/>
        </p:spPr>
        <p:txBody>
          <a:bodyPr wrap="square" lIns="0" tIns="0" rIns="0" bIns="0" rtlCol="0" anchor="t">
            <a:normAutofit fontScale="92500" lnSpcReduction="20000"/>
          </a:bodyPr>
          <a:lstStyle/>
          <a:p>
            <a:pPr marL="0" indent="0" algn="ctr">
              <a:buNone/>
            </a:pPr>
            <a:r>
              <a:rPr lang="en-US" sz="660" dirty="0">
                <a:solidFill>
                  <a:srgbClr val="888888"/>
                </a:solidFill>
                <a:latin typeface="Aptos" pitchFamily="34" charset="0"/>
                <a:ea typeface="Aptos" pitchFamily="34" charset="-122"/>
                <a:cs typeface="Aptos" pitchFamily="34" charset="-120"/>
              </a:rPr>
              <a:t>Lab guide: 90-minute Renewable Energy Example - Corpus source: data/document-index-legal-compliance-90min.csv</a:t>
            </a:r>
            <a:endParaRPr lang="en-US" sz="660" dirty="0"/>
          </a:p>
        </p:txBody>
      </p:sp>
      <p:sp>
        <p:nvSpPr>
          <p:cNvPr id="91" name="Text 87"/>
          <p:cNvSpPr/>
          <p:nvPr/>
        </p:nvSpPr>
        <p:spPr>
          <a:xfrm>
            <a:off x="914400" y="6729984"/>
            <a:ext cx="9692640" cy="82296"/>
          </a:xfrm>
          <a:prstGeom prst="rect">
            <a:avLst/>
          </a:prstGeom>
          <a:noFill/>
          <a:ln/>
        </p:spPr>
        <p:txBody>
          <a:bodyPr wrap="square" lIns="0" tIns="0" rIns="0" bIns="0" rtlCol="0" anchor="t">
            <a:normAutofit fontScale="92500" lnSpcReduction="20000"/>
          </a:bodyPr>
          <a:lstStyle/>
          <a:p>
            <a:pPr marL="0" indent="0" algn="ctr">
              <a:buNone/>
            </a:pPr>
            <a:r>
              <a:rPr lang="en-US" sz="660" dirty="0">
                <a:solidFill>
                  <a:srgbClr val="888888"/>
                </a:solidFill>
                <a:latin typeface="Aptos" pitchFamily="34" charset="0"/>
                <a:ea typeface="Aptos" pitchFamily="34" charset="-122"/>
                <a:cs typeface="Aptos" pitchFamily="34" charset="-120"/>
              </a:rPr>
              <a:t>Lab guide: 90-minute Renewable Energy Example - Corpus source: data/document-index-legal-compliance-90min.csv</a:t>
            </a:r>
            <a:endParaRPr lang="en-US" sz="6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9</TotalTime>
  <Words>1397</Words>
  <Application>Microsoft Office PowerPoint</Application>
  <PresentationFormat>Widescreen</PresentationFormat>
  <Paragraphs>59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 &amp; Legal Intelligence Agent</dc:title>
  <dc:subject>Contract &amp; Legal Intelligence Agent 90-minute renewable energy example</dc:subject>
  <dc:creator>Microsoft Scout</dc:creator>
  <cp:lastModifiedBy>Alexsander Petrenko</cp:lastModifiedBy>
  <cp:revision>1</cp:revision>
  <dcterms:created xsi:type="dcterms:W3CDTF">2026-09-09T00:15:54Z</dcterms:created>
  <dcterms:modified xsi:type="dcterms:W3CDTF">2026-09-09T00:18:43Z</dcterms:modified>
</cp:coreProperties>
</file>